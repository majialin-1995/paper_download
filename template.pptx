
<file path=[Content_Types].xml><?xml version="1.0" encoding="utf-8"?>
<Types xmlns="http://schemas.openxmlformats.org/package/2006/content-types">
  <Default Extension="bin" ContentType="application/vnd.openxmlformats-officedocument.oleObject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50" r:id="rId1"/>
    <p:sldMasterId id="2147483751" r:id="rId2"/>
  </p:sldMasterIdLst>
  <p:notesMasterIdLst>
    <p:notesMasterId r:id="rId12"/>
  </p:notesMasterIdLst>
  <p:handoutMasterIdLst>
    <p:handoutMasterId r:id="rId13"/>
  </p:handoutMasterIdLst>
  <p:sldIdLst>
    <p:sldId id="599" r:id="rId3"/>
    <p:sldId id="890" r:id="rId4"/>
    <p:sldId id="735" r:id="rId5"/>
    <p:sldId id="891" r:id="rId6"/>
    <p:sldId id="892" r:id="rId7"/>
    <p:sldId id="736" r:id="rId8"/>
    <p:sldId id="932" r:id="rId9"/>
    <p:sldId id="933" r:id="rId10"/>
    <p:sldId id="563" r:id="rId11"/>
  </p:sldIdLst>
  <p:sldSz cx="12192000" cy="6858000"/>
  <p:notesSz cx="6858000" cy="9144000"/>
  <p:embeddedFontLst>
    <p:embeddedFont>
      <p:font typeface="黑体" panose="02010609060101010101" pitchFamily="49" charset="-122"/>
      <p:regular r:id="rId14"/>
    </p:embeddedFont>
  </p:embeddedFontLst>
  <p:defaultTextStyle>
    <a:defPPr>
      <a:defRPr lang="zh-CN"/>
    </a:defPPr>
    <a:lvl1pPr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Times New Roman" panose="02020603050405020304" pitchFamily="18" charset="0"/>
        <a:ea typeface="宋体" panose="02010600030101010101" pitchFamily="2" charset="-122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Times New Roman" panose="02020603050405020304" pitchFamily="18" charset="0"/>
        <a:ea typeface="宋体" panose="02010600030101010101" pitchFamily="2" charset="-122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Times New Roman" panose="02020603050405020304" pitchFamily="18" charset="0"/>
        <a:ea typeface="宋体" panose="02010600030101010101" pitchFamily="2" charset="-122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Times New Roman" panose="02020603050405020304" pitchFamily="18" charset="0"/>
        <a:ea typeface="宋体" panose="02010600030101010101" pitchFamily="2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15">
          <p15:clr>
            <a:srgbClr val="A4A3A4"/>
          </p15:clr>
        </p15:guide>
        <p15:guide id="2" pos="393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000099"/>
    <a:srgbClr val="FF0066"/>
    <a:srgbClr val="FF6600"/>
    <a:srgbClr val="CC3300"/>
    <a:srgbClr val="FF0000"/>
    <a:srgbClr val="FFCCCC"/>
    <a:srgbClr val="FF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B301B821-A1FF-4177-AEE7-76D212191A09}" styleName="中度样式 1 - 强调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3C2FFA5D-87B4-456A-9821-1D502468CF0F}" styleName="主题样式 1 - 强调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浅色样式 3 - 强调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349" autoAdjust="0"/>
    <p:restoredTop sz="94526" autoAdjust="0"/>
  </p:normalViewPr>
  <p:slideViewPr>
    <p:cSldViewPr>
      <p:cViewPr varScale="1">
        <p:scale>
          <a:sx n="104" d="100"/>
          <a:sy n="104" d="100"/>
        </p:scale>
        <p:origin x="2400" y="126"/>
      </p:cViewPr>
      <p:guideLst>
        <p:guide orient="horz" pos="2115"/>
        <p:guide pos="3931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90" d="100"/>
          <a:sy n="90" d="100"/>
        </p:scale>
        <p:origin x="3774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handoutMaster" Target="handoutMasters/handoutMaster1.xml"/><Relationship Id="rId18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17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presProps" Target="presProp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font" Target="fonts/font1.fntdata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>
            <a:extLst>
              <a:ext uri="{FF2B5EF4-FFF2-40B4-BE49-F238E27FC236}">
                <a16:creationId xmlns:a16="http://schemas.microsoft.com/office/drawing/2014/main" id="{76B9E87F-D1A9-4CA5-B9B1-22F69F4533F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ea typeface="宋体" panose="02010600030101010101" pitchFamily="2" charset="-122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520D0401-0C17-4014-B036-47E550A46DF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ea typeface="宋体" panose="02010600030101010101" pitchFamily="2" charset="-122"/>
              </a:defRPr>
            </a:lvl1pPr>
          </a:lstStyle>
          <a:p>
            <a:pPr>
              <a:defRPr/>
            </a:pPr>
            <a:fld id="{3EAA2098-6243-4E85-A30C-8CE19BE66B0B}" type="datetimeFigureOut">
              <a:rPr lang="zh-CN" altLang="en-US"/>
              <a:pPr>
                <a:defRPr/>
              </a:pPr>
              <a:t>2025/11/14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32036412-F6E2-427F-BE87-28E9727749D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ea typeface="宋体" panose="02010600030101010101" pitchFamily="2" charset="-122"/>
              </a:defRPr>
            </a:lvl1pPr>
          </a:lstStyle>
          <a:p>
            <a:pPr>
              <a:defRPr/>
            </a:pPr>
            <a:r>
              <a:rPr lang="en-US" altLang="zh-CN"/>
              <a:t>/23</a:t>
            </a:r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520B6ABF-8C56-4A91-899F-51AC62EF6EF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pPr>
              <a:defRPr/>
            </a:pPr>
            <a:fld id="{DBA5E930-3DBB-4DA6-A5A8-254468A65294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1572250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>
            <a:extLst>
              <a:ext uri="{FF2B5EF4-FFF2-40B4-BE49-F238E27FC236}">
                <a16:creationId xmlns:a16="http://schemas.microsoft.com/office/drawing/2014/main" id="{24D7BA36-11C2-4074-A140-3C0ABFE38FC0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0213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buFont typeface="Arial" pitchFamily="34" charset="0"/>
              <a:buNone/>
              <a:defRPr sz="1200">
                <a:ea typeface="宋体" panose="02010600030101010101" pitchFamily="2" charset="-122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3075" name="Rectangle 3">
            <a:extLst>
              <a:ext uri="{FF2B5EF4-FFF2-40B4-BE49-F238E27FC236}">
                <a16:creationId xmlns:a16="http://schemas.microsoft.com/office/drawing/2014/main" id="{AAB63288-F908-462C-AE7F-48803AE07C2E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3025" y="0"/>
            <a:ext cx="2973388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buFont typeface="Arial" pitchFamily="34" charset="0"/>
              <a:buNone/>
              <a:defRPr sz="1200">
                <a:ea typeface="宋体" panose="02010600030101010101" pitchFamily="2" charset="-122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148" name="Rectangle 4">
            <a:extLst>
              <a:ext uri="{FF2B5EF4-FFF2-40B4-BE49-F238E27FC236}">
                <a16:creationId xmlns:a16="http://schemas.microsoft.com/office/drawing/2014/main" id="{DFD9D2FC-191A-4245-812C-E606C68179DC}"/>
              </a:ext>
            </a:extLst>
          </p:cNvPr>
          <p:cNvSpPr>
            <a:spLocks noGrp="1" noRot="1" noChangeAspect="1" noChangeArrowheads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  <p:sp>
        <p:nvSpPr>
          <p:cNvPr id="3077" name="Rectangle 5">
            <a:extLst>
              <a:ext uri="{FF2B5EF4-FFF2-40B4-BE49-F238E27FC236}">
                <a16:creationId xmlns:a16="http://schemas.microsoft.com/office/drawing/2014/main" id="{958D441C-1AD1-48C9-B290-5951AE12A104}"/>
              </a:ext>
            </a:extLst>
          </p:cNvPr>
          <p:cNvSpPr>
            <a:spLocks noGrp="1" noRot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078" name="Rectangle 6">
            <a:extLst>
              <a:ext uri="{FF2B5EF4-FFF2-40B4-BE49-F238E27FC236}">
                <a16:creationId xmlns:a16="http://schemas.microsoft.com/office/drawing/2014/main" id="{AE2B8358-BDB4-4770-9114-D52C7756B322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0213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buFont typeface="Arial" pitchFamily="34" charset="0"/>
              <a:buNone/>
              <a:defRPr sz="1200">
                <a:ea typeface="宋体" panose="02010600030101010101" pitchFamily="2" charset="-122"/>
              </a:defRPr>
            </a:lvl1pPr>
          </a:lstStyle>
          <a:p>
            <a:pPr>
              <a:defRPr/>
            </a:pPr>
            <a:r>
              <a:rPr lang="en-US"/>
              <a:t>/23</a:t>
            </a:r>
          </a:p>
        </p:txBody>
      </p:sp>
      <p:sp>
        <p:nvSpPr>
          <p:cNvPr id="3079" name="Rectangle 7">
            <a:extLst>
              <a:ext uri="{FF2B5EF4-FFF2-40B4-BE49-F238E27FC236}">
                <a16:creationId xmlns:a16="http://schemas.microsoft.com/office/drawing/2014/main" id="{6C509388-6503-46B6-A715-97FEB15A85A0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3025" y="8685213"/>
            <a:ext cx="2973388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buFont typeface="Arial" panose="020B0604020202020204" pitchFamily="34" charset="0"/>
              <a:buNone/>
              <a:defRPr sz="1200"/>
            </a:lvl1pPr>
          </a:lstStyle>
          <a:p>
            <a:pPr>
              <a:defRPr/>
            </a:pPr>
            <a:fld id="{378C4E7D-3FFA-4EBE-95A4-E22B9494B7D5}" type="slidenum">
              <a:rPr lang="zh-CN" altLang="en-US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78703858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宋体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宋体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宋体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宋体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宋体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速读会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378C4E7D-3FFA-4EBE-95A4-E22B9494B7D5}" type="slidenum">
              <a:rPr lang="zh-CN" altLang="en-US" smtClean="0"/>
              <a:pPr>
                <a:defRPr/>
              </a:pPr>
              <a:t>1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63211664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幻灯片图像占位符 1">
            <a:extLst>
              <a:ext uri="{FF2B5EF4-FFF2-40B4-BE49-F238E27FC236}">
                <a16:creationId xmlns:a16="http://schemas.microsoft.com/office/drawing/2014/main" id="{9D2D7AD1-B6D9-4DF4-BABE-D8B45DD951A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0243" name="备注占位符 2">
            <a:extLst>
              <a:ext uri="{FF2B5EF4-FFF2-40B4-BE49-F238E27FC236}">
                <a16:creationId xmlns:a16="http://schemas.microsoft.com/office/drawing/2014/main" id="{94DE3410-64B7-4ECA-B758-6491F84381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CN" altLang="en-US" dirty="0"/>
          </a:p>
        </p:txBody>
      </p:sp>
      <p:sp>
        <p:nvSpPr>
          <p:cNvPr id="10244" name="灯片编号占位符 3">
            <a:extLst>
              <a:ext uri="{FF2B5EF4-FFF2-40B4-BE49-F238E27FC236}">
                <a16:creationId xmlns:a16="http://schemas.microsoft.com/office/drawing/2014/main" id="{D14E2CF3-2FC1-47D5-A842-E2CCAB9800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>
              <a:buFontTx/>
              <a:buNone/>
            </a:pPr>
            <a:fld id="{4A614D0A-3E7B-4537-A260-ACA8B8EAA6BF}" type="slidenum">
              <a:rPr lang="zh-CN" altLang="en-US" sz="1200" smtClean="0"/>
              <a:pPr>
                <a:buFontTx/>
                <a:buNone/>
              </a:pPr>
              <a:t>2</a:t>
            </a:fld>
            <a:endParaRPr lang="en-US" altLang="zh-CN" sz="1200"/>
          </a:p>
        </p:txBody>
      </p:sp>
    </p:spTree>
    <p:extLst>
      <p:ext uri="{BB962C8B-B14F-4D97-AF65-F5344CB8AC3E}">
        <p14:creationId xmlns:p14="http://schemas.microsoft.com/office/powerpoint/2010/main" val="4488182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幻灯片图像占位符 1">
            <a:extLst>
              <a:ext uri="{FF2B5EF4-FFF2-40B4-BE49-F238E27FC236}">
                <a16:creationId xmlns:a16="http://schemas.microsoft.com/office/drawing/2014/main" id="{9D2D7AD1-B6D9-4DF4-BABE-D8B45DD951A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0243" name="备注占位符 2">
            <a:extLst>
              <a:ext uri="{FF2B5EF4-FFF2-40B4-BE49-F238E27FC236}">
                <a16:creationId xmlns:a16="http://schemas.microsoft.com/office/drawing/2014/main" id="{94DE3410-64B7-4ECA-B758-6491F84381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CN" altLang="en-US" dirty="0"/>
          </a:p>
        </p:txBody>
      </p:sp>
      <p:sp>
        <p:nvSpPr>
          <p:cNvPr id="10244" name="灯片编号占位符 3">
            <a:extLst>
              <a:ext uri="{FF2B5EF4-FFF2-40B4-BE49-F238E27FC236}">
                <a16:creationId xmlns:a16="http://schemas.microsoft.com/office/drawing/2014/main" id="{D14E2CF3-2FC1-47D5-A842-E2CCAB9800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>
              <a:buFontTx/>
              <a:buNone/>
            </a:pPr>
            <a:fld id="{4A614D0A-3E7B-4537-A260-ACA8B8EAA6BF}" type="slidenum">
              <a:rPr lang="zh-CN" altLang="en-US" sz="1200" smtClean="0"/>
              <a:pPr>
                <a:buFontTx/>
                <a:buNone/>
              </a:pPr>
              <a:t>3</a:t>
            </a:fld>
            <a:endParaRPr lang="en-US" altLang="zh-CN" sz="1200"/>
          </a:p>
        </p:txBody>
      </p:sp>
    </p:spTree>
    <p:extLst>
      <p:ext uri="{BB962C8B-B14F-4D97-AF65-F5344CB8AC3E}">
        <p14:creationId xmlns:p14="http://schemas.microsoft.com/office/powerpoint/2010/main" val="288553371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幻灯片图像占位符 1">
            <a:extLst>
              <a:ext uri="{FF2B5EF4-FFF2-40B4-BE49-F238E27FC236}">
                <a16:creationId xmlns:a16="http://schemas.microsoft.com/office/drawing/2014/main" id="{9D2D7AD1-B6D9-4DF4-BABE-D8B45DD951A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0243" name="备注占位符 2">
            <a:extLst>
              <a:ext uri="{FF2B5EF4-FFF2-40B4-BE49-F238E27FC236}">
                <a16:creationId xmlns:a16="http://schemas.microsoft.com/office/drawing/2014/main" id="{94DE3410-64B7-4ECA-B758-6491F84381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CN" altLang="en-US" dirty="0"/>
          </a:p>
        </p:txBody>
      </p:sp>
      <p:sp>
        <p:nvSpPr>
          <p:cNvPr id="10244" name="灯片编号占位符 3">
            <a:extLst>
              <a:ext uri="{FF2B5EF4-FFF2-40B4-BE49-F238E27FC236}">
                <a16:creationId xmlns:a16="http://schemas.microsoft.com/office/drawing/2014/main" id="{D14E2CF3-2FC1-47D5-A842-E2CCAB9800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>
              <a:buFontTx/>
              <a:buNone/>
            </a:pPr>
            <a:fld id="{4A614D0A-3E7B-4537-A260-ACA8B8EAA6BF}" type="slidenum">
              <a:rPr lang="zh-CN" altLang="en-US" sz="1200" smtClean="0"/>
              <a:pPr>
                <a:buFontTx/>
                <a:buNone/>
              </a:pPr>
              <a:t>4</a:t>
            </a:fld>
            <a:endParaRPr lang="en-US" altLang="zh-CN" sz="1200"/>
          </a:p>
        </p:txBody>
      </p:sp>
    </p:spTree>
    <p:extLst>
      <p:ext uri="{BB962C8B-B14F-4D97-AF65-F5344CB8AC3E}">
        <p14:creationId xmlns:p14="http://schemas.microsoft.com/office/powerpoint/2010/main" val="350351796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幻灯片图像占位符 1">
            <a:extLst>
              <a:ext uri="{FF2B5EF4-FFF2-40B4-BE49-F238E27FC236}">
                <a16:creationId xmlns:a16="http://schemas.microsoft.com/office/drawing/2014/main" id="{9D2D7AD1-B6D9-4DF4-BABE-D8B45DD951A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10243" name="备注占位符 2">
            <a:extLst>
              <a:ext uri="{FF2B5EF4-FFF2-40B4-BE49-F238E27FC236}">
                <a16:creationId xmlns:a16="http://schemas.microsoft.com/office/drawing/2014/main" id="{94DE3410-64B7-4ECA-B758-6491F84381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CN" altLang="en-US" dirty="0"/>
          </a:p>
        </p:txBody>
      </p:sp>
      <p:sp>
        <p:nvSpPr>
          <p:cNvPr id="10244" name="灯片编号占位符 3">
            <a:extLst>
              <a:ext uri="{FF2B5EF4-FFF2-40B4-BE49-F238E27FC236}">
                <a16:creationId xmlns:a16="http://schemas.microsoft.com/office/drawing/2014/main" id="{D14E2CF3-2FC1-47D5-A842-E2CCAB9800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>
              <a:buFontTx/>
              <a:buNone/>
            </a:pPr>
            <a:fld id="{4A614D0A-3E7B-4537-A260-ACA8B8EAA6BF}" type="slidenum">
              <a:rPr lang="zh-CN" altLang="en-US" sz="1200" smtClean="0"/>
              <a:pPr>
                <a:buFontTx/>
                <a:buNone/>
              </a:pPr>
              <a:t>5</a:t>
            </a:fld>
            <a:endParaRPr lang="en-US" altLang="zh-CN" sz="1200"/>
          </a:p>
        </p:txBody>
      </p:sp>
    </p:spTree>
    <p:extLst>
      <p:ext uri="{BB962C8B-B14F-4D97-AF65-F5344CB8AC3E}">
        <p14:creationId xmlns:p14="http://schemas.microsoft.com/office/powerpoint/2010/main" val="65362465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9E25BA-9DEE-1BB6-E5DA-D2EBC3306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占位符 1">
            <a:extLst>
              <a:ext uri="{FF2B5EF4-FFF2-40B4-BE49-F238E27FC236}">
                <a16:creationId xmlns:a16="http://schemas.microsoft.com/office/drawing/2014/main" id="{31145B39-FA4F-970E-07F2-6924F92514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36438729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378C4E7D-3FFA-4EBE-95A4-E22B9494B7D5}" type="slidenum">
              <a:rPr lang="zh-CN" altLang="en-US" smtClean="0"/>
              <a:pPr>
                <a:defRPr/>
              </a:pPr>
              <a:t>7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10312109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378C4E7D-3FFA-4EBE-95A4-E22B9494B7D5}" type="slidenum">
              <a:rPr lang="zh-CN" altLang="en-US" smtClean="0"/>
              <a:pPr>
                <a:defRPr/>
              </a:pPr>
              <a:t>8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23448888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258" name="Rectangle 7">
            <a:extLst>
              <a:ext uri="{FF2B5EF4-FFF2-40B4-BE49-F238E27FC236}">
                <a16:creationId xmlns:a16="http://schemas.microsoft.com/office/drawing/2014/main" id="{D85C35C8-212D-4271-955C-24F15EA18842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fld id="{798254E1-82F6-40B9-B727-CCEFA0C9941C}" type="slidenum">
              <a:rPr lang="zh-CN" altLang="en-US" sz="1200" smtClean="0"/>
              <a:pPr/>
              <a:t>9</a:t>
            </a:fld>
            <a:endParaRPr lang="en-US" altLang="zh-CN" sz="1200"/>
          </a:p>
        </p:txBody>
      </p:sp>
      <p:sp>
        <p:nvSpPr>
          <p:cNvPr id="96259" name="Rectangle 2">
            <a:extLst>
              <a:ext uri="{FF2B5EF4-FFF2-40B4-BE49-F238E27FC236}">
                <a16:creationId xmlns:a16="http://schemas.microsoft.com/office/drawing/2014/main" id="{DB22883A-F0E2-4680-AA28-3F5AE6A5F90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96260" name="Rectangle 3">
            <a:extLst>
              <a:ext uri="{FF2B5EF4-FFF2-40B4-BE49-F238E27FC236}">
                <a16:creationId xmlns:a16="http://schemas.microsoft.com/office/drawing/2014/main" id="{34EA5672-2814-447B-B67C-C221908A7A39}"/>
              </a:ext>
            </a:extLst>
          </p:cNvPr>
          <p:cNvSpPr>
            <a:spLocks noGrp="1" noRot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CN" altLang="en-US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zh-CN" altLang="en-US"/>
              <a:t>单击此处编辑母版副标题样式</a:t>
            </a:r>
          </a:p>
        </p:txBody>
      </p:sp>
    </p:spTree>
    <p:extLst>
      <p:ext uri="{BB962C8B-B14F-4D97-AF65-F5344CB8AC3E}">
        <p14:creationId xmlns:p14="http://schemas.microsoft.com/office/powerpoint/2010/main" val="26761155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</p:spTree>
    <p:extLst>
      <p:ext uri="{BB962C8B-B14F-4D97-AF65-F5344CB8AC3E}">
        <p14:creationId xmlns:p14="http://schemas.microsoft.com/office/powerpoint/2010/main" val="13705217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22085942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</p:spTree>
    <p:extLst>
      <p:ext uri="{BB962C8B-B14F-4D97-AF65-F5344CB8AC3E}">
        <p14:creationId xmlns:p14="http://schemas.microsoft.com/office/powerpoint/2010/main" val="5889455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</p:spTree>
    <p:extLst>
      <p:ext uri="{BB962C8B-B14F-4D97-AF65-F5344CB8AC3E}">
        <p14:creationId xmlns:p14="http://schemas.microsoft.com/office/powerpoint/2010/main" val="3074974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17143226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030332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23527598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7911311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</p:spTree>
    <p:extLst>
      <p:ext uri="{BB962C8B-B14F-4D97-AF65-F5344CB8AC3E}">
        <p14:creationId xmlns:p14="http://schemas.microsoft.com/office/powerpoint/2010/main" val="29621532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  <a:prstGeom prst="rect">
            <a:avLst/>
          </a:prstGeo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</p:spTree>
    <p:extLst>
      <p:ext uri="{BB962C8B-B14F-4D97-AF65-F5344CB8AC3E}">
        <p14:creationId xmlns:p14="http://schemas.microsoft.com/office/powerpoint/2010/main" val="112033164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ECA9F1CD-6922-4125-9AC2-85D939EE59C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11384711-1CBE-4486-95A5-66612BE6222C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4165600" y="6245225"/>
            <a:ext cx="4306888" cy="4762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/128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60F074FE-46AF-43F0-8099-03CE7FA7B207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40C5D95-A4F6-4C0D-847C-27C0BAC6EDFA}" type="slidenum">
              <a:rPr lang="zh-CN" altLang="en-US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9397333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A616CCB8-454E-453B-A3D5-4346933A607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92C66D7A-B638-4AD3-9EDF-FEFCC03DA1CB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/128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E775B7B4-658C-44E6-BF60-D95EF8543E1F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A63612A-1DB8-4716-A96B-DBA33E61B32C}" type="slidenum">
              <a:rPr lang="zh-CN" altLang="en-US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67819074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853236A4-D459-443B-83B0-352E869B3DB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546805D3-8336-4D7B-8045-55637B5B579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/128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24C7E7DC-5B98-4059-845A-13D153F76A37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FA841A1-0711-465F-B91F-6B622300F3F0}" type="slidenum">
              <a:rPr lang="zh-CN" altLang="en-US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96825401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2F4893A-C188-4E5C-95AB-7C5206E1FB1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1153C97-B01F-4991-A340-A2C65C90239C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/128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6D973E9-CAD3-4839-B41F-B111C19E6751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2B42957-98B2-4EB4-B044-AA04C7CC36EA}" type="slidenum">
              <a:rPr lang="zh-CN" altLang="en-US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836551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3E28B503-F467-4377-A4A4-6A120359C32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271328D0-AD29-49A4-A674-A58BB4EA870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/128</a:t>
            </a:r>
          </a:p>
        </p:txBody>
      </p:sp>
      <p:sp>
        <p:nvSpPr>
          <p:cNvPr id="9" name="Rectangle 6">
            <a:extLst>
              <a:ext uri="{FF2B5EF4-FFF2-40B4-BE49-F238E27FC236}">
                <a16:creationId xmlns:a16="http://schemas.microsoft.com/office/drawing/2014/main" id="{4BA48E7E-5044-4603-B82D-56A370530D5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7FDDA2E-D695-4029-AF69-093FBF8B0A04}" type="slidenum">
              <a:rPr lang="zh-CN" altLang="en-US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348739382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C8BE04EE-E7D0-4744-BC42-35C2E63487B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0CB49010-A7AC-4279-8172-E8551BC5425C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/128</a:t>
            </a:r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43286410-995E-44DF-8B2D-DF1B9AC91A9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0D50ED9-4ACC-44C1-B1C9-69B18B6CB091}" type="slidenum">
              <a:rPr lang="zh-CN" altLang="en-US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28248271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B8495108-F56C-4511-AE00-5B34A6D3B0AF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939F7C46-53DA-4FBE-88F1-FB889EE235C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6381750" y="6381750"/>
            <a:ext cx="779463" cy="4762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 dirty="0"/>
              <a:t>/128</a:t>
            </a:r>
            <a:endParaRPr lang="en-US" dirty="0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06B5D1F1-3BC5-45F1-A096-514BD5838B61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6000750" y="6381750"/>
            <a:ext cx="579438" cy="47625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4F9093D-8580-48B5-A60E-B6ED8E3A86BB}" type="slidenum">
              <a:rPr lang="zh-CN" altLang="en-US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327408433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E766955-40B6-4348-B49E-B4E6A8F94781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165EC25-8BF8-41E3-9596-5DF7FA23AF87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/128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08A5F56-444E-4A03-95DA-17F96975C43B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83AA385-5416-4521-A047-1CE00967AA24}" type="slidenum">
              <a:rPr lang="zh-CN" altLang="en-US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22225821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918283B-9FD1-4090-8394-43F503607A74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F38FC5B-F0A7-46CC-9795-779A949EFE0B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/128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55AC9C5-06EB-4064-B261-4733D8555C3F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328B19E-8BA7-40AD-B240-9AC21AE27BB6}" type="slidenum">
              <a:rPr lang="zh-CN" altLang="en-US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02054826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9F86C96E-C65D-4325-BA2F-E1AB9D380654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52877B1F-D532-4D8F-98BB-C8EC1E26F9B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/128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5D247D8D-6888-44AC-AD8D-7DF884058DE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0788629-052E-4F6C-8203-FB40F0150E19}" type="slidenum">
              <a:rPr lang="zh-CN" altLang="en-US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92765333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  <a:prstGeom prst="rect">
            <a:avLst/>
          </a:prstGeo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A72D0F0F-FED3-48AB-BFA0-E668CC1CAEBB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EDD5F2B9-71F0-420D-80A0-08B9D6A01A5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/128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53302E0C-5DC3-412D-8A2F-181288B2E675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C7EEA79-8465-4A46-897D-CA37F441ACFE}" type="slidenum">
              <a:rPr lang="zh-CN" altLang="en-US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6721500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jpe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image" Target="../media/image3.jpeg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auto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10">
            <a:extLst>
              <a:ext uri="{FF2B5EF4-FFF2-40B4-BE49-F238E27FC236}">
                <a16:creationId xmlns:a16="http://schemas.microsoft.com/office/drawing/2014/main" id="{41C4D14D-8FEF-4EE9-AE1B-3528DD15C0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7" name="Picture 3" descr="TITLE01">
            <a:extLst>
              <a:ext uri="{FF2B5EF4-FFF2-40B4-BE49-F238E27FC236}">
                <a16:creationId xmlns:a16="http://schemas.microsoft.com/office/drawing/2014/main" id="{31AD0F87-CB1F-4F04-B290-A588A9064D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5127" r:id="rId1"/>
    <p:sldLayoutId id="2147485128" r:id="rId2"/>
    <p:sldLayoutId id="2147485129" r:id="rId3"/>
    <p:sldLayoutId id="2147485130" r:id="rId4"/>
    <p:sldLayoutId id="2147485131" r:id="rId5"/>
    <p:sldLayoutId id="2147485132" r:id="rId6"/>
    <p:sldLayoutId id="2147485133" r:id="rId7"/>
    <p:sldLayoutId id="2147485134" r:id="rId8"/>
    <p:sldLayoutId id="2147485135" r:id="rId9"/>
    <p:sldLayoutId id="2147485136" r:id="rId10"/>
    <p:sldLayoutId id="2147485137" r:id="rId11"/>
  </p:sldLayoutIdLst>
  <p:hf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2"/>
          </a:solidFill>
          <a:latin typeface="Arial" pitchFamily="34" charset="0"/>
          <a:ea typeface="华文中宋" pitchFamily="2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2"/>
          </a:solidFill>
          <a:latin typeface="Arial" pitchFamily="34" charset="0"/>
          <a:ea typeface="华文中宋" pitchFamily="2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2"/>
          </a:solidFill>
          <a:latin typeface="Arial" pitchFamily="34" charset="0"/>
          <a:ea typeface="华文中宋" pitchFamily="2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2"/>
          </a:solidFill>
          <a:latin typeface="Arial" pitchFamily="34" charset="0"/>
          <a:ea typeface="华文中宋" pitchFamily="2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2"/>
          </a:solidFill>
          <a:latin typeface="Arial" pitchFamily="34" charset="0"/>
          <a:ea typeface="华文中宋" pitchFamily="2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2"/>
          </a:solidFill>
          <a:latin typeface="Arial" pitchFamily="34" charset="0"/>
          <a:ea typeface="华文中宋" pitchFamily="2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2"/>
          </a:solidFill>
          <a:latin typeface="Arial" pitchFamily="34" charset="0"/>
          <a:ea typeface="华文中宋" pitchFamily="2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2"/>
          </a:solidFill>
          <a:latin typeface="Arial" pitchFamily="34" charset="0"/>
          <a:ea typeface="华文中宋" pitchFamily="2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8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5pPr>
      <a:lvl6pPr marL="25146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33">
            <a:extLst>
              <a:ext uri="{FF2B5EF4-FFF2-40B4-BE49-F238E27FC236}">
                <a16:creationId xmlns:a16="http://schemas.microsoft.com/office/drawing/2014/main" id="{20CED608-69E7-4F37-AD98-F411699091CA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13713" y="44450"/>
            <a:ext cx="3886200" cy="576263"/>
          </a:xfrm>
          <a:prstGeom prst="rect">
            <a:avLst/>
          </a:prstGeom>
          <a:gradFill rotWithShape="1">
            <a:gsLst>
              <a:gs pos="0">
                <a:srgbClr val="81CFEB">
                  <a:alpha val="18999"/>
                </a:srgbClr>
              </a:gs>
              <a:gs pos="100000">
                <a:srgbClr val="FFFFFF"/>
              </a:gs>
            </a:gsLst>
            <a:lin ang="5400000" scaled="1"/>
          </a:gradFill>
          <a:ln>
            <a:noFill/>
          </a:ln>
        </p:spPr>
        <p:txBody>
          <a:bodyPr wrap="none" anchor="ctr"/>
          <a:lstStyle>
            <a:lvl1pPr>
              <a:buFont typeface="Arial" panose="020B0604020202020204" pitchFamily="34" charset="0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>
              <a:defRPr/>
            </a:pPr>
            <a:endParaRPr lang="zh-CN" altLang="en-US" sz="1800">
              <a:latin typeface="Arial" panose="020B0604020202020204" pitchFamily="34" charset="0"/>
            </a:endParaRPr>
          </a:p>
        </p:txBody>
      </p:sp>
      <p:sp>
        <p:nvSpPr>
          <p:cNvPr id="2051" name="Rectangle 3">
            <a:extLst>
              <a:ext uri="{FF2B5EF4-FFF2-40B4-BE49-F238E27FC236}">
                <a16:creationId xmlns:a16="http://schemas.microsoft.com/office/drawing/2014/main" id="{720AA3D6-02F8-4CD7-BE94-3AB8E25F8C6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609600" y="1600200"/>
            <a:ext cx="109728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zh-CN"/>
              <a:t>单击此处编辑母版文本样式</a:t>
            </a:r>
          </a:p>
          <a:p>
            <a:pPr lvl="1"/>
            <a:r>
              <a:rPr lang="zh-CN" altLang="zh-CN"/>
              <a:t>第二级</a:t>
            </a:r>
          </a:p>
          <a:p>
            <a:pPr lvl="2"/>
            <a:r>
              <a:rPr lang="zh-CN" altLang="zh-CN"/>
              <a:t>第三级</a:t>
            </a:r>
          </a:p>
          <a:p>
            <a:pPr lvl="3"/>
            <a:r>
              <a:rPr lang="zh-CN" altLang="zh-CN"/>
              <a:t>第四级</a:t>
            </a:r>
          </a:p>
          <a:p>
            <a:pPr lvl="4"/>
            <a:r>
              <a:rPr lang="zh-CN" altLang="zh-CN"/>
              <a:t>第五级</a:t>
            </a:r>
          </a:p>
        </p:txBody>
      </p:sp>
      <p:sp>
        <p:nvSpPr>
          <p:cNvPr id="2052" name="Rectangle 4">
            <a:extLst>
              <a:ext uri="{FF2B5EF4-FFF2-40B4-BE49-F238E27FC236}">
                <a16:creationId xmlns:a16="http://schemas.microsoft.com/office/drawing/2014/main" id="{B026025C-072C-4006-82D2-B1E245B2774E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5225"/>
            <a:ext cx="28448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0" hangingPunct="0">
              <a:buFont typeface="Arial" pitchFamily="34" charset="0"/>
              <a:buNone/>
              <a:defRPr sz="1400">
                <a:latin typeface="+mn-lt"/>
                <a:ea typeface="宋体" panose="02010600030101010101" pitchFamily="2" charset="-122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053" name="Rectangle 5">
            <a:extLst>
              <a:ext uri="{FF2B5EF4-FFF2-40B4-BE49-F238E27FC236}">
                <a16:creationId xmlns:a16="http://schemas.microsoft.com/office/drawing/2014/main" id="{88B20C00-1689-4208-8AA2-85425F3762B0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5225"/>
            <a:ext cx="38608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eaLnBrk="0" hangingPunct="0">
              <a:buFont typeface="Arial" pitchFamily="34" charset="0"/>
              <a:buNone/>
              <a:defRPr sz="1400">
                <a:latin typeface="+mn-lt"/>
                <a:ea typeface="宋体" panose="02010600030101010101" pitchFamily="2" charset="-122"/>
              </a:defRPr>
            </a:lvl1pPr>
          </a:lstStyle>
          <a:p>
            <a:pPr>
              <a:defRPr/>
            </a:pPr>
            <a:r>
              <a:rPr lang="en-US"/>
              <a:t>/128</a:t>
            </a:r>
          </a:p>
        </p:txBody>
      </p:sp>
      <p:sp>
        <p:nvSpPr>
          <p:cNvPr id="2054" name="Rectangle 6">
            <a:extLst>
              <a:ext uri="{FF2B5EF4-FFF2-40B4-BE49-F238E27FC236}">
                <a16:creationId xmlns:a16="http://schemas.microsoft.com/office/drawing/2014/main" id="{41CF0A70-F715-49D4-A949-33154907D1C4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45225"/>
            <a:ext cx="28448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buFont typeface="Arial" panose="020B0604020202020204" pitchFamily="34" charset="0"/>
              <a:buNone/>
              <a:defRPr sz="140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fld id="{642457CC-541E-470C-9F3C-8A45EBD53598}" type="slidenum">
              <a:rPr lang="zh-CN" altLang="en-US"/>
              <a:pPr>
                <a:defRPr/>
              </a:pPr>
              <a:t>‹#›</a:t>
            </a:fld>
            <a:endParaRPr lang="en-US" altLang="zh-CN"/>
          </a:p>
        </p:txBody>
      </p:sp>
      <p:pic>
        <p:nvPicPr>
          <p:cNvPr id="2055" name="Picture 7" descr="ppt1">
            <a:extLst>
              <a:ext uri="{FF2B5EF4-FFF2-40B4-BE49-F238E27FC236}">
                <a16:creationId xmlns:a16="http://schemas.microsoft.com/office/drawing/2014/main" id="{34FE1E70-3A6E-4A5D-9DE2-DD35E6DD4F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5146" r:id="rId1"/>
    <p:sldLayoutId id="2147485138" r:id="rId2"/>
    <p:sldLayoutId id="2147485139" r:id="rId3"/>
    <p:sldLayoutId id="2147485140" r:id="rId4"/>
    <p:sldLayoutId id="2147485141" r:id="rId5"/>
    <p:sldLayoutId id="2147485142" r:id="rId6"/>
    <p:sldLayoutId id="2147485147" r:id="rId7"/>
    <p:sldLayoutId id="2147485148" r:id="rId8"/>
    <p:sldLayoutId id="2147485143" r:id="rId9"/>
    <p:sldLayoutId id="2147485144" r:id="rId10"/>
    <p:sldLayoutId id="2147485145" r:id="rId11"/>
  </p:sldLayoutIdLst>
  <p:hf hd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ea typeface="宋体" pitchFamily="2" charset="-122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ea typeface="宋体" pitchFamily="2" charset="-122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ea typeface="宋体" pitchFamily="2" charset="-122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ea typeface="宋体" pitchFamily="2" charset="-122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ea typeface="宋体" pitchFamily="2" charset="-122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ea typeface="宋体" pitchFamily="2" charset="-122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ea typeface="宋体" pitchFamily="2" charset="-122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ea typeface="宋体" pitchFamily="2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8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4.w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ext Box 2">
            <a:extLst>
              <a:ext uri="{FF2B5EF4-FFF2-40B4-BE49-F238E27FC236}">
                <a16:creationId xmlns:a16="http://schemas.microsoft.com/office/drawing/2014/main" id="{63F4B1F2-2BBB-4066-9BCF-87994FE6EB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51905" y="3044279"/>
            <a:ext cx="4488185" cy="76944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 eaLnBrk="1" hangingPunct="1">
              <a:buFont typeface="Arial" panose="020B0604020202020204" pitchFamily="34" charset="0"/>
              <a:buNone/>
              <a:defRPr/>
            </a:pPr>
            <a:r>
              <a:rPr lang="en-US" altLang="zh-CN" sz="4400" b="1" dirty="0">
                <a:solidFill>
                  <a:srgbClr val="FF00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黑体" pitchFamily="49" charset="-122"/>
              </a:rPr>
              <a:t>CSIM</a:t>
            </a:r>
            <a:r>
              <a:rPr lang="zh-CN" altLang="en-US" sz="4400" b="1" dirty="0">
                <a:solidFill>
                  <a:srgbClr val="FF00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黑体" pitchFamily="49" charset="-122"/>
              </a:rPr>
              <a:t>小组速读会</a:t>
            </a:r>
          </a:p>
        </p:txBody>
      </p:sp>
      <p:sp>
        <p:nvSpPr>
          <p:cNvPr id="4099" name="Text Box 3">
            <a:extLst>
              <a:ext uri="{FF2B5EF4-FFF2-40B4-BE49-F238E27FC236}">
                <a16:creationId xmlns:a16="http://schemas.microsoft.com/office/drawing/2014/main" id="{AF6AF125-DB9C-4BA0-AEE9-32B9ACB1039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961872" y="5619458"/>
            <a:ext cx="2268253" cy="64573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tIns="62400">
            <a:spAutoFit/>
          </a:bodyPr>
          <a:lstStyle/>
          <a:p>
            <a:pPr algn="ctr" eaLnBrk="1" hangingPunct="1">
              <a:lnSpc>
                <a:spcPct val="140000"/>
              </a:lnSpc>
              <a:buFont typeface="Arial" panose="020B0604020202020204" pitchFamily="34" charset="0"/>
              <a:buNone/>
              <a:defRPr/>
            </a:pPr>
            <a:r>
              <a:rPr lang="en-US" sz="2800" b="1" dirty="0">
                <a:effectLst>
                  <a:outerShdw blurRad="38100" dist="38100" dir="2700000" algn="tl">
                    <a:srgbClr val="C0C0C0"/>
                  </a:outerShdw>
                </a:effectLst>
                <a:ea typeface="黑体" pitchFamily="49" charset="-122"/>
              </a:rPr>
              <a:t>CSIM@LUT</a:t>
            </a:r>
          </a:p>
        </p:txBody>
      </p:sp>
      <p:sp>
        <p:nvSpPr>
          <p:cNvPr id="4100" name="Rectangle 4">
            <a:extLst>
              <a:ext uri="{FF2B5EF4-FFF2-40B4-BE49-F238E27FC236}">
                <a16:creationId xmlns:a16="http://schemas.microsoft.com/office/drawing/2014/main" id="{12F27216-51FE-4B3C-9BE2-DDC7040EB1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33880" y="6288688"/>
            <a:ext cx="2502280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eaLnBrk="1" hangingPunct="1">
              <a:buFont typeface="Arial" panose="020B0604020202020204" pitchFamily="34" charset="0"/>
              <a:buNone/>
              <a:defRPr/>
            </a:pPr>
            <a:r>
              <a:rPr lang="en-US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2025</a:t>
            </a:r>
            <a:r>
              <a:rPr lang="zh-CN" altLang="en-US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年 </a:t>
            </a:r>
            <a:r>
              <a:rPr lang="en-US" altLang="zh-CN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6</a:t>
            </a:r>
            <a:r>
              <a:rPr lang="zh-CN" altLang="en-US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月</a:t>
            </a:r>
            <a:r>
              <a:rPr lang="en-US" altLang="zh-CN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29</a:t>
            </a:r>
            <a:r>
              <a:rPr lang="zh-CN" altLang="en-US" b="1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日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FE29667-F4BC-4FAC-B7C4-3BE65410A134}"/>
              </a:ext>
            </a:extLst>
          </p:cNvPr>
          <p:cNvSpPr txBox="1"/>
          <p:nvPr/>
        </p:nvSpPr>
        <p:spPr>
          <a:xfrm>
            <a:off x="5136181" y="4994928"/>
            <a:ext cx="1919632" cy="6245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base" latinLnBrk="0" hangingPunct="1">
              <a:lnSpc>
                <a:spcPct val="14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uLnTx/>
                <a:uFillTx/>
                <a:latin typeface="Times New Roman" panose="02020603050405020304" pitchFamily="18" charset="0"/>
                <a:ea typeface="黑体" pitchFamily="49" charset="-122"/>
                <a:cs typeface="+mn-cs"/>
              </a:rPr>
              <a:t>XXX      </a:t>
            </a:r>
          </a:p>
        </p:txBody>
      </p:sp>
    </p:spTree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Box 3">
            <a:extLst>
              <a:ext uri="{FF2B5EF4-FFF2-40B4-BE49-F238E27FC236}">
                <a16:creationId xmlns:a16="http://schemas.microsoft.com/office/drawing/2014/main" id="{64E91132-4506-48BB-AEB3-C95EF7A9ED8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15381" y="606438"/>
            <a:ext cx="7272337" cy="914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ctr">
              <a:defRPr/>
            </a:pPr>
            <a:r>
              <a:rPr lang="en-US" altLang="zh-CN" sz="5400" b="1" dirty="0">
                <a:effectLst>
                  <a:outerShdw blurRad="38100" dist="38100" dir="2700000" algn="tl">
                    <a:srgbClr val="C0C0C0"/>
                  </a:outerShdw>
                </a:effectLst>
                <a:ea typeface="黑体" pitchFamily="49" charset="-122"/>
                <a:cs typeface="Times New Roman" pitchFamily="18" charset="0"/>
              </a:rPr>
              <a:t>Layout</a:t>
            </a:r>
            <a:endParaRPr lang="zh-CN" altLang="en-US" sz="5400" b="1" dirty="0">
              <a:effectLst>
                <a:outerShdw blurRad="38100" dist="38100" dir="2700000" algn="tl">
                  <a:srgbClr val="C0C0C0"/>
                </a:outerShdw>
              </a:effectLst>
              <a:ea typeface="黑体" pitchFamily="49" charset="-122"/>
              <a:cs typeface="Times New Roman" pitchFamily="18" charset="0"/>
            </a:endParaRPr>
          </a:p>
        </p:txBody>
      </p:sp>
      <p:sp>
        <p:nvSpPr>
          <p:cNvPr id="4" name="Text Box 3">
            <a:extLst>
              <a:ext uri="{FF2B5EF4-FFF2-40B4-BE49-F238E27FC236}">
                <a16:creationId xmlns:a16="http://schemas.microsoft.com/office/drawing/2014/main" id="{65563DB5-6CA5-4699-821B-FE7F3E3291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1557338"/>
            <a:ext cx="12144375" cy="2492375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  <a:defRPr/>
            </a:pPr>
            <a:endParaRPr lang="en-US" altLang="zh-CN" sz="2400" b="1" dirty="0">
              <a:solidFill>
                <a:srgbClr val="000099"/>
              </a:solidFill>
              <a:latin typeface="Times New Roman" panose="02020603050405020304" pitchFamily="18" charset="0"/>
            </a:endParaRP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  <a:defRPr/>
            </a:pPr>
            <a:endParaRPr lang="en-US" altLang="zh-CN" sz="24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</a:endParaRPr>
          </a:p>
          <a:p>
            <a:pPr marL="342900" indent="-342900" eaLnBrk="1" hangingPunct="1">
              <a:spcBef>
                <a:spcPct val="0"/>
              </a:spcBef>
              <a:defRPr/>
            </a:pPr>
            <a:endParaRPr lang="en-US" altLang="zh-CN" sz="24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</a:endParaRPr>
          </a:p>
          <a:p>
            <a:pPr marL="342900" indent="-342900" eaLnBrk="1" hangingPunct="1">
              <a:spcBef>
                <a:spcPct val="0"/>
              </a:spcBef>
              <a:defRPr/>
            </a:pPr>
            <a:endParaRPr lang="en-US" altLang="zh-CN" sz="24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</a:endParaRPr>
          </a:p>
          <a:p>
            <a:pPr marL="342900" indent="-342900" eaLnBrk="1" hangingPunct="1">
              <a:spcBef>
                <a:spcPct val="0"/>
              </a:spcBef>
              <a:defRPr/>
            </a:pPr>
            <a:endParaRPr lang="en-US" altLang="zh-CN" sz="2400" dirty="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  <a:defRPr/>
            </a:pPr>
            <a:endParaRPr lang="en-US" altLang="zh-CN" sz="2400" dirty="0">
              <a:latin typeface="Times New Roman" panose="02020603050405020304" pitchFamily="18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E7DBEC45-F882-C501-6FAA-FF33A672E031}"/>
              </a:ext>
            </a:extLst>
          </p:cNvPr>
          <p:cNvSpPr txBox="1"/>
          <p:nvPr/>
        </p:nvSpPr>
        <p:spPr>
          <a:xfrm>
            <a:off x="119336" y="1488114"/>
            <a:ext cx="11665296" cy="5016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60000" lvl="0" indent="-457200" algn="just" eaLnBrk="1" hangingPunct="1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[1].	Smith MO, Wellman MP. Co‑Learning Empirical Games &amp; World Models[C]// Proceedings of the 1st Reinforcement Learning Conference (RL Conference 2024). 2024: 1‑15.</a:t>
            </a:r>
          </a:p>
          <a:p>
            <a:pPr marL="360000" lvl="0" indent="-457200" algn="just" eaLnBrk="1" hangingPunct="1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[2].	Jeong W, Min S. Improving Thompson Sampling via Information Relaxation for Budgeted Multi‑armed Bandits[C]// Proceedings of the 1st Reinforcement Learning Conference (RL Conference 2024). 2024: 16‑28.</a:t>
            </a:r>
          </a:p>
          <a:p>
            <a:pPr marL="360000" lvl="0" indent="-457200" algn="just" eaLnBrk="1" hangingPunct="1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[3].	Wu S, 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Amini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AA. Graph Neural Thompson Sampling[C]// Proceedings of the 1st Reinforcement Learning Conference (RL Conference 2024). 2024: 29‑63.</a:t>
            </a:r>
          </a:p>
          <a:p>
            <a:pPr marL="360000" lvl="0" indent="-457200" algn="just" eaLnBrk="1" hangingPunct="1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[4].	Wang J, Wang K, Li Y, et al. 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JoinGym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: An Efficient Join Order Selection Environment[C]// Proceedings of the 1st Reinforcement Learning Conference (RL Conference 2024). 2024: 64‑91.</a:t>
            </a:r>
          </a:p>
          <a:p>
            <a:pPr marL="360000" lvl="0" indent="-457200" algn="just" eaLnBrk="1" hangingPunct="1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[5].	Raffin A, 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Sigaud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O, 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Kober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J, et al. An Open‑Loop Baseline for Reinforcement Learning Locomotion Tasks[C]// Proceedings of the 1st Reinforcement Learning Conference (RL Conference 2024). 2024: 92‑107.</a:t>
            </a:r>
          </a:p>
          <a:p>
            <a:pPr marL="360000" lvl="0" indent="-457200" algn="just" eaLnBrk="1" hangingPunct="1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[6].	Avalos R, 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Bargiacchi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E, 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Nowé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A, et al. Online Planning in POMDPs with State‑Requests[C]// Proceedings of the 1st Reinforcement Learning Conference (RL Conference 2024). 2024: 108‑129.</a:t>
            </a:r>
          </a:p>
          <a:p>
            <a:pPr marL="360000" lvl="0" indent="-457200" algn="just" eaLnBrk="1" hangingPunct="1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[7].	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Almuzairee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A, Hansen N, Christensen HI. A Recipe for Unbounded Data Augmentation in Visual Reinforcement Learning[C]// Proceedings of the 1st Reinforcement Learning Conference (RL Conference 2024). 2024: 130‑157.</a:t>
            </a:r>
          </a:p>
          <a:p>
            <a:pPr marL="360000" lvl="0" indent="-457200" algn="just" eaLnBrk="1" hangingPunct="1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[8].	Moss RJ, Corso A, 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Caers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J, et al. 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BetaZero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: Belief‑State Planning for Long‑Horizon POMDPs using Learned Approximations[C]// Proceedings of the 1st Reinforcement Learning Conference (RL Conference 2024). 2024: 158‑181.</a:t>
            </a:r>
          </a:p>
          <a:p>
            <a:pPr marL="360000" lvl="0" indent="-457200" algn="just" eaLnBrk="1" hangingPunct="1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[9].	Huang A, 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Ghavamzadeh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M, Jiang N, et al. Non‑adaptive Online Finetuning for Offline Reinforcement Learning[C]// Proceedings of the 1st Reinforcement Learning Conference (RL Conference 2024). 2024: 182‑197.</a:t>
            </a:r>
          </a:p>
          <a:p>
            <a:pPr marL="360000" lvl="0" indent="-457200" algn="just" eaLnBrk="1" hangingPunct="1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[10].Corrado NE, Qu Y, 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Balis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JU, et al. Guided Data Augmentation for Offline Reinforcement Learning and Imitation Learning[C]// Proceedings of the 1st Reinforcement Learning Conference (RL Conference 2024). 2024: 198‑215.</a:t>
            </a:r>
          </a:p>
        </p:txBody>
      </p:sp>
      <p:sp>
        <p:nvSpPr>
          <p:cNvPr id="2" name="页脚占位符 1">
            <a:extLst>
              <a:ext uri="{FF2B5EF4-FFF2-40B4-BE49-F238E27FC236}">
                <a16:creationId xmlns:a16="http://schemas.microsoft.com/office/drawing/2014/main" id="{1E1FAE4F-C3FB-2722-CC44-A7A5439CD480}"/>
              </a:ext>
            </a:extLst>
          </p:cNvPr>
          <p:cNvSpPr txBox="1">
            <a:spLocks/>
          </p:cNvSpPr>
          <p:nvPr/>
        </p:nvSpPr>
        <p:spPr bwMode="auto">
          <a:xfrm>
            <a:off x="5055607" y="6525344"/>
            <a:ext cx="2336537" cy="3326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zh-CN"/>
            </a:defPPr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buFont typeface="Arial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宋体" panose="02010600030101010101" pitchFamily="2" charset="-122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9pPr>
          </a:lstStyle>
          <a:p>
            <a:pPr>
              <a:defRPr/>
            </a:pPr>
            <a:r>
              <a:rPr lang="en-US" altLang="zh-CN" dirty="0"/>
              <a:t>2 / 125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9403107"/>
      </p:ext>
    </p:extLst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Box 3">
            <a:extLst>
              <a:ext uri="{FF2B5EF4-FFF2-40B4-BE49-F238E27FC236}">
                <a16:creationId xmlns:a16="http://schemas.microsoft.com/office/drawing/2014/main" id="{64E91132-4506-48BB-AEB3-C95EF7A9ED8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15381" y="606438"/>
            <a:ext cx="7272337" cy="914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ctr">
              <a:defRPr/>
            </a:pPr>
            <a:r>
              <a:rPr lang="en-US" altLang="zh-CN" sz="5400" b="1" dirty="0">
                <a:effectLst>
                  <a:outerShdw blurRad="38100" dist="38100" dir="2700000" algn="tl">
                    <a:srgbClr val="C0C0C0"/>
                  </a:outerShdw>
                </a:effectLst>
                <a:ea typeface="黑体" pitchFamily="49" charset="-122"/>
                <a:cs typeface="Times New Roman" pitchFamily="18" charset="0"/>
              </a:rPr>
              <a:t>Layout</a:t>
            </a:r>
            <a:endParaRPr lang="zh-CN" altLang="en-US" sz="5400" b="1" dirty="0">
              <a:effectLst>
                <a:outerShdw blurRad="38100" dist="38100" dir="2700000" algn="tl">
                  <a:srgbClr val="C0C0C0"/>
                </a:outerShdw>
              </a:effectLst>
              <a:ea typeface="黑体" pitchFamily="49" charset="-122"/>
              <a:cs typeface="Times New Roman" pitchFamily="18" charset="0"/>
            </a:endParaRPr>
          </a:p>
        </p:txBody>
      </p:sp>
      <p:sp>
        <p:nvSpPr>
          <p:cNvPr id="4" name="Text Box 3">
            <a:extLst>
              <a:ext uri="{FF2B5EF4-FFF2-40B4-BE49-F238E27FC236}">
                <a16:creationId xmlns:a16="http://schemas.microsoft.com/office/drawing/2014/main" id="{65563DB5-6CA5-4699-821B-FE7F3E3291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1557338"/>
            <a:ext cx="12144375" cy="2492375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  <a:defRPr/>
            </a:pPr>
            <a:endParaRPr lang="en-US" altLang="zh-CN" sz="2400" b="1" dirty="0">
              <a:solidFill>
                <a:srgbClr val="000099"/>
              </a:solidFill>
              <a:latin typeface="Times New Roman" panose="02020603050405020304" pitchFamily="18" charset="0"/>
            </a:endParaRP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  <a:defRPr/>
            </a:pPr>
            <a:endParaRPr lang="en-US" altLang="zh-CN" sz="24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</a:endParaRPr>
          </a:p>
          <a:p>
            <a:pPr marL="342900" indent="-342900" eaLnBrk="1" hangingPunct="1">
              <a:spcBef>
                <a:spcPct val="0"/>
              </a:spcBef>
              <a:defRPr/>
            </a:pPr>
            <a:endParaRPr lang="en-US" altLang="zh-CN" sz="24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</a:endParaRPr>
          </a:p>
          <a:p>
            <a:pPr marL="342900" indent="-342900" eaLnBrk="1" hangingPunct="1">
              <a:spcBef>
                <a:spcPct val="0"/>
              </a:spcBef>
              <a:defRPr/>
            </a:pPr>
            <a:endParaRPr lang="en-US" altLang="zh-CN" sz="24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</a:endParaRPr>
          </a:p>
          <a:p>
            <a:pPr marL="342900" indent="-342900" eaLnBrk="1" hangingPunct="1">
              <a:spcBef>
                <a:spcPct val="0"/>
              </a:spcBef>
              <a:defRPr/>
            </a:pPr>
            <a:endParaRPr lang="en-US" altLang="zh-CN" sz="2400" dirty="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  <a:defRPr/>
            </a:pPr>
            <a:endParaRPr lang="en-US" altLang="zh-CN" sz="2400" dirty="0">
              <a:latin typeface="Times New Roman" panose="02020603050405020304" pitchFamily="18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E7DBEC45-F882-C501-6FAA-FF33A672E031}"/>
              </a:ext>
            </a:extLst>
          </p:cNvPr>
          <p:cNvSpPr txBox="1"/>
          <p:nvPr/>
        </p:nvSpPr>
        <p:spPr>
          <a:xfrm>
            <a:off x="119336" y="1488114"/>
            <a:ext cx="11665296" cy="5016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60000" lvl="0" indent="-457200" algn="just" eaLnBrk="1" hangingPunct="1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[11].Lu M, 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Aghaei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M, Raj A, et al. Towards Principled, Practical Policy Gradient for Bandits and Tabular MDPs[C]// Proceedings of the 1st Reinforcement Learning Conference (RL Conference 2024). 2024: 216‑282.</a:t>
            </a:r>
          </a:p>
          <a:p>
            <a:pPr marL="360000" lvl="0" indent="-457200" algn="just" eaLnBrk="1" hangingPunct="1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[12].Freed B, Wei T, Calandra R, et al. Unifying Model‑Based and Model‑Free Reinforcement Learning with Equivalent Policy Sets[C]// Proceedings of the 1st Reinforcement Learning Conference (RL Conference 2024). 2024: 283‑301.</a:t>
            </a:r>
          </a:p>
          <a:p>
            <a:pPr marL="360000" lvl="0" indent="-457200" algn="just" eaLnBrk="1" hangingPunct="1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[13].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Golowich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N, 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Moitra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A. The Role of Inherent Bellman Error in Offline Reinforcement Learning with Linear Function Approximation[C]// Proceedings of the 1st Reinforcement Learning Conference (RL Conference 2024). 2024: 302‑341.</a:t>
            </a:r>
          </a:p>
          <a:p>
            <a:pPr marL="360000" lvl="0" indent="-457200" algn="just" eaLnBrk="1" hangingPunct="1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[14].Rudolph M, Chuck C, Black K, et al. Learning Action‑based Representations Using Invariance[C]// Proceedings of the 1st Reinforcement Learning Conference (RL Conference 2024). 2024: 342‑365.</a:t>
            </a:r>
          </a:p>
          <a:p>
            <a:pPr marL="360000" lvl="0" indent="-457200" algn="just" eaLnBrk="1" hangingPunct="1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[15].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Järnefelt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O, 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Kallel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M, 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D’Eramo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C. Cyclicity‑Regularized Coordination Graphs[C]// Proceedings of the 1st Reinforcement Learning Conference (RL Conference 2024). 2024: 366‑379.</a:t>
            </a:r>
          </a:p>
          <a:p>
            <a:pPr marL="360000" lvl="0" indent="-457200" algn="just" eaLnBrk="1" hangingPunct="1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[16].Kapoor A, Freed B, Schneider J, et al. Assigning Credit with Partial Reward Decoupling in Multi‑Agent Proximal Policy Optimization[C]// Proceedings of the 1st Reinforcement Learning Conference (RL Conference 2024). 2024: 380‑399.</a:t>
            </a:r>
          </a:p>
          <a:p>
            <a:pPr marL="360000" lvl="0" indent="-457200" algn="just" eaLnBrk="1" hangingPunct="1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[17].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Delfosse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Q, 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Blüml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J, 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Gregori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B, et al. 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OCAtari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: Object‑Centric Atari 2600 Reinforcement Learning Environments[C]// Proceedings of the 1st Reinforcement Learning Conference (RL Conference 2024). 2024: 400‑449.</a:t>
            </a:r>
          </a:p>
          <a:p>
            <a:pPr marL="360000" lvl="0" indent="-457200" algn="just" eaLnBrk="1" hangingPunct="1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[18].Beck J, Jackson MT, 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Vuorio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R, et al. 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SplAgger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: Split Aggregation for Meta‑Reinforcement Learning[C]// Proceedings of the 1st Reinforcement Learning Conference (RL Conference 2024). 2024: 450‑469.</a:t>
            </a:r>
          </a:p>
          <a:p>
            <a:pPr marL="360000" lvl="0" indent="-457200" algn="just" eaLnBrk="1" hangingPunct="1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[19].Jiang N, Li J, Xue Y. A Tighter Convergence Proof of Reverse Experience Replay[C]// Proceedings of the 1st Reinforcement Learning Conference (RL Conference 2024). 2024: 470‑480.</a:t>
            </a:r>
          </a:p>
          <a:p>
            <a:pPr marL="360000" lvl="0" indent="-457200" algn="just" eaLnBrk="1" hangingPunct="1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[20].Lan Q, Mahmood AR, YAN S, et al. Learning to Optimize for Reinforcement Learning[C]// Proceedings of the 1st Reinforcement Learning Conference (RL Conference 2024). 2024: 481‑497.</a:t>
            </a:r>
          </a:p>
        </p:txBody>
      </p:sp>
      <p:sp>
        <p:nvSpPr>
          <p:cNvPr id="2" name="页脚占位符 1">
            <a:extLst>
              <a:ext uri="{FF2B5EF4-FFF2-40B4-BE49-F238E27FC236}">
                <a16:creationId xmlns:a16="http://schemas.microsoft.com/office/drawing/2014/main" id="{28416916-EA4A-F5DE-4CA4-97E4B91C0273}"/>
              </a:ext>
            </a:extLst>
          </p:cNvPr>
          <p:cNvSpPr txBox="1">
            <a:spLocks/>
          </p:cNvSpPr>
          <p:nvPr/>
        </p:nvSpPr>
        <p:spPr bwMode="auto">
          <a:xfrm>
            <a:off x="5055607" y="6525344"/>
            <a:ext cx="2336537" cy="3326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zh-CN"/>
            </a:defPPr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buFont typeface="Arial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宋体" panose="02010600030101010101" pitchFamily="2" charset="-122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9pPr>
          </a:lstStyle>
          <a:p>
            <a:pPr>
              <a:defRPr/>
            </a:pPr>
            <a:r>
              <a:rPr lang="en-US" altLang="zh-CN" dirty="0"/>
              <a:t>3 / 125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6696480"/>
      </p:ext>
    </p:extLst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Box 3">
            <a:extLst>
              <a:ext uri="{FF2B5EF4-FFF2-40B4-BE49-F238E27FC236}">
                <a16:creationId xmlns:a16="http://schemas.microsoft.com/office/drawing/2014/main" id="{64E91132-4506-48BB-AEB3-C95EF7A9ED8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15381" y="606438"/>
            <a:ext cx="7272337" cy="914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ctr">
              <a:defRPr/>
            </a:pPr>
            <a:r>
              <a:rPr lang="en-US" altLang="zh-CN" sz="5400" b="1" dirty="0">
                <a:effectLst>
                  <a:outerShdw blurRad="38100" dist="38100" dir="2700000" algn="tl">
                    <a:srgbClr val="C0C0C0"/>
                  </a:outerShdw>
                </a:effectLst>
                <a:ea typeface="黑体" pitchFamily="49" charset="-122"/>
                <a:cs typeface="Times New Roman" pitchFamily="18" charset="0"/>
              </a:rPr>
              <a:t>Layout</a:t>
            </a:r>
            <a:endParaRPr lang="zh-CN" altLang="en-US" sz="5400" b="1" dirty="0">
              <a:effectLst>
                <a:outerShdw blurRad="38100" dist="38100" dir="2700000" algn="tl">
                  <a:srgbClr val="C0C0C0"/>
                </a:outerShdw>
              </a:effectLst>
              <a:ea typeface="黑体" pitchFamily="49" charset="-122"/>
              <a:cs typeface="Times New Roman" pitchFamily="18" charset="0"/>
            </a:endParaRPr>
          </a:p>
        </p:txBody>
      </p:sp>
      <p:sp>
        <p:nvSpPr>
          <p:cNvPr id="4" name="Text Box 3">
            <a:extLst>
              <a:ext uri="{FF2B5EF4-FFF2-40B4-BE49-F238E27FC236}">
                <a16:creationId xmlns:a16="http://schemas.microsoft.com/office/drawing/2014/main" id="{65563DB5-6CA5-4699-821B-FE7F3E3291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1557338"/>
            <a:ext cx="12144375" cy="2492375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  <a:defRPr/>
            </a:pPr>
            <a:endParaRPr lang="en-US" altLang="zh-CN" sz="2400" b="1" dirty="0">
              <a:solidFill>
                <a:srgbClr val="000099"/>
              </a:solidFill>
              <a:latin typeface="Times New Roman" panose="02020603050405020304" pitchFamily="18" charset="0"/>
            </a:endParaRP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  <a:defRPr/>
            </a:pPr>
            <a:endParaRPr lang="en-US" altLang="zh-CN" sz="24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</a:endParaRPr>
          </a:p>
          <a:p>
            <a:pPr marL="342900" indent="-342900" eaLnBrk="1" hangingPunct="1">
              <a:spcBef>
                <a:spcPct val="0"/>
              </a:spcBef>
              <a:defRPr/>
            </a:pPr>
            <a:endParaRPr lang="en-US" altLang="zh-CN" sz="24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</a:endParaRPr>
          </a:p>
          <a:p>
            <a:pPr marL="342900" indent="-342900" eaLnBrk="1" hangingPunct="1">
              <a:spcBef>
                <a:spcPct val="0"/>
              </a:spcBef>
              <a:defRPr/>
            </a:pPr>
            <a:endParaRPr lang="en-US" altLang="zh-CN" sz="24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</a:endParaRPr>
          </a:p>
          <a:p>
            <a:pPr marL="342900" indent="-342900" eaLnBrk="1" hangingPunct="1">
              <a:spcBef>
                <a:spcPct val="0"/>
              </a:spcBef>
              <a:defRPr/>
            </a:pPr>
            <a:endParaRPr lang="en-US" altLang="zh-CN" sz="2400" dirty="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  <a:defRPr/>
            </a:pPr>
            <a:endParaRPr lang="en-US" altLang="zh-CN" sz="2400" dirty="0">
              <a:latin typeface="Times New Roman" panose="02020603050405020304" pitchFamily="18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E7DBEC45-F882-C501-6FAA-FF33A672E031}"/>
              </a:ext>
            </a:extLst>
          </p:cNvPr>
          <p:cNvSpPr txBox="1"/>
          <p:nvPr/>
        </p:nvSpPr>
        <p:spPr>
          <a:xfrm>
            <a:off x="119336" y="1488114"/>
            <a:ext cx="11665296" cy="5016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60000" lvl="0" indent="-457200" algn="just" eaLnBrk="1" hangingPunct="1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[21].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Dunion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M, Albrecht SV. Multi‑view Disentanglement for Reinforcement Learning with Multiple Cameras[C]// Proceedings of the 1st Reinforcement Learning Conference (RL Conference 2024). 2024: 498‑515.</a:t>
            </a:r>
          </a:p>
          <a:p>
            <a:pPr marL="360000" lvl="0" indent="-457200" algn="just" eaLnBrk="1" hangingPunct="1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[22].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McInroe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T, 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Jelley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A, Albrecht SV, et al. Planning to Go Out‑of‑Distribution in Offline‑to‑Online Reinforcement Learning[C]// Proceedings of the 1st Reinforcement Learning Conference (RL Conference 2024). 2024: 516‑546.</a:t>
            </a:r>
          </a:p>
          <a:p>
            <a:pPr marL="360000" lvl="0" indent="-457200" algn="just" eaLnBrk="1" hangingPunct="1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[23].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Hugessen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A, 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Creus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Castanyer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R, Mohamed F, et al. Surprise‑Adaptive Intrinsic Motivation for Unsupervised Reinforcement Learning[C]// Proceedings of the 1st Reinforcement Learning Conference (RL Conference 2024). 2024: 547‑562.</a:t>
            </a:r>
          </a:p>
          <a:p>
            <a:pPr marL="360000" lvl="0" indent="-457200" algn="just" eaLnBrk="1" hangingPunct="1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[24].Ayoub A, 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Szepesvari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D, 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Zanini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F, et al. Mitigating the Curse of Horizon in Monte‑Carlo Returns[C]// Proceedings of the 1st Reinforcement Learning Conference (RL Conference 2024). 2024: 563‑572.</a:t>
            </a:r>
          </a:p>
          <a:p>
            <a:pPr marL="360000" lvl="0" indent="-457200" algn="just" eaLnBrk="1" hangingPunct="1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[25].Luo Y, Pan Y, Wang H, et al. A Simple Mixture Policy Parameterization for Improving Sample Efficiency of 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CVaR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Optimization[C]// Proceedings of the 1st Reinforcement Learning Conference (RL Conference 2024). 2024: 573‑592.</a:t>
            </a:r>
          </a:p>
          <a:p>
            <a:pPr marL="360000" lvl="0" indent="-457200" algn="just" eaLnBrk="1" hangingPunct="1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[26].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Doko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G, Yang G, Brown DS, et al. ROIL: Robust Offline Imitation Learning without Trajectories[C]// Proceedings of the 1st Reinforcement Learning Conference (RL Conference 2024). 2024: 593‑605.</a:t>
            </a:r>
          </a:p>
          <a:p>
            <a:pPr marL="360000" lvl="0" indent="-457200" algn="just" eaLnBrk="1" hangingPunct="1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[27].Meyer EJ, White A, Machado MC. Harnessing Discrete Representations for Continual Reinforcement Learning[C]// Proceedings of the 1st Reinforcement Learning Conference (RL Conference 2024). 2024: 606‑628.</a:t>
            </a:r>
          </a:p>
          <a:p>
            <a:pPr marL="360000" lvl="0" indent="-457200" algn="just" eaLnBrk="1" hangingPunct="1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[28].Abel D, Ho MK, Harutyunyan A. Three Dogmas of Reinforcement Learning[C]// Proceedings of the 1st Reinforcement Learning Conference (RL Conference 2024). 2024: 629‑644.</a:t>
            </a:r>
          </a:p>
          <a:p>
            <a:pPr marL="360000" lvl="0" indent="-457200" algn="just" eaLnBrk="1" hangingPunct="1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[29].Papini M, 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Manganini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G, 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Metelli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AM, et al. Policy Gradient with Active Importance Sampling[C]// Proceedings of the 1st Reinforcement Learning Conference (RL Conference 2024). 2024: 645‑675.</a:t>
            </a:r>
          </a:p>
          <a:p>
            <a:pPr marL="360000" lvl="0" indent="-457200" algn="just" eaLnBrk="1" hangingPunct="1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[30].Zamboni R, 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Cirino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D, 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Restelli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M, et al. The Limits of Pure Exploration in POMDPs: When the Observation Entropy is Enough[C]// Proceedings of the 1st Reinforcement Learning Conference (RL Conference 2024). 2024: 676‑692.</a:t>
            </a:r>
          </a:p>
        </p:txBody>
      </p:sp>
      <p:sp>
        <p:nvSpPr>
          <p:cNvPr id="2" name="页脚占位符 1">
            <a:extLst>
              <a:ext uri="{FF2B5EF4-FFF2-40B4-BE49-F238E27FC236}">
                <a16:creationId xmlns:a16="http://schemas.microsoft.com/office/drawing/2014/main" id="{78DD0C79-4599-84D8-4FB2-90B2E1548452}"/>
              </a:ext>
            </a:extLst>
          </p:cNvPr>
          <p:cNvSpPr txBox="1">
            <a:spLocks/>
          </p:cNvSpPr>
          <p:nvPr/>
        </p:nvSpPr>
        <p:spPr bwMode="auto">
          <a:xfrm>
            <a:off x="5055607" y="6525344"/>
            <a:ext cx="2336537" cy="3326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zh-CN"/>
            </a:defPPr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buFont typeface="Arial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宋体" panose="02010600030101010101" pitchFamily="2" charset="-122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9pPr>
          </a:lstStyle>
          <a:p>
            <a:pPr>
              <a:defRPr/>
            </a:pPr>
            <a:r>
              <a:rPr lang="en-US" altLang="zh-CN" dirty="0"/>
              <a:t>4 / 125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50135"/>
      </p:ext>
    </p:extLst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Box 3">
            <a:extLst>
              <a:ext uri="{FF2B5EF4-FFF2-40B4-BE49-F238E27FC236}">
                <a16:creationId xmlns:a16="http://schemas.microsoft.com/office/drawing/2014/main" id="{64E91132-4506-48BB-AEB3-C95EF7A9ED8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15381" y="606438"/>
            <a:ext cx="7272337" cy="914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ctr">
              <a:defRPr/>
            </a:pPr>
            <a:r>
              <a:rPr lang="en-US" altLang="zh-CN" sz="5400" b="1" dirty="0">
                <a:effectLst>
                  <a:outerShdw blurRad="38100" dist="38100" dir="2700000" algn="tl">
                    <a:srgbClr val="C0C0C0"/>
                  </a:outerShdw>
                </a:effectLst>
                <a:ea typeface="黑体" pitchFamily="49" charset="-122"/>
                <a:cs typeface="Times New Roman" pitchFamily="18" charset="0"/>
              </a:rPr>
              <a:t>Layout</a:t>
            </a:r>
            <a:endParaRPr lang="zh-CN" altLang="en-US" sz="5400" b="1" dirty="0">
              <a:effectLst>
                <a:outerShdw blurRad="38100" dist="38100" dir="2700000" algn="tl">
                  <a:srgbClr val="C0C0C0"/>
                </a:outerShdw>
              </a:effectLst>
              <a:ea typeface="黑体" pitchFamily="49" charset="-122"/>
              <a:cs typeface="Times New Roman" pitchFamily="18" charset="0"/>
            </a:endParaRPr>
          </a:p>
        </p:txBody>
      </p:sp>
      <p:sp>
        <p:nvSpPr>
          <p:cNvPr id="4" name="Text Box 3">
            <a:extLst>
              <a:ext uri="{FF2B5EF4-FFF2-40B4-BE49-F238E27FC236}">
                <a16:creationId xmlns:a16="http://schemas.microsoft.com/office/drawing/2014/main" id="{65563DB5-6CA5-4699-821B-FE7F3E3291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1557338"/>
            <a:ext cx="12144375" cy="2492375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  <a:defRPr/>
            </a:pPr>
            <a:endParaRPr lang="en-US" altLang="zh-CN" sz="2400" b="1" dirty="0">
              <a:solidFill>
                <a:srgbClr val="000099"/>
              </a:solidFill>
              <a:latin typeface="Times New Roman" panose="02020603050405020304" pitchFamily="18" charset="0"/>
            </a:endParaRPr>
          </a:p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  <a:defRPr/>
            </a:pPr>
            <a:endParaRPr lang="en-US" altLang="zh-CN" sz="24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</a:endParaRPr>
          </a:p>
          <a:p>
            <a:pPr marL="342900" indent="-342900" eaLnBrk="1" hangingPunct="1">
              <a:spcBef>
                <a:spcPct val="0"/>
              </a:spcBef>
              <a:defRPr/>
            </a:pPr>
            <a:endParaRPr lang="en-US" altLang="zh-CN" sz="24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</a:endParaRPr>
          </a:p>
          <a:p>
            <a:pPr marL="342900" indent="-342900" eaLnBrk="1" hangingPunct="1">
              <a:spcBef>
                <a:spcPct val="0"/>
              </a:spcBef>
              <a:defRPr/>
            </a:pPr>
            <a:endParaRPr lang="en-US" altLang="zh-CN" sz="24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</a:endParaRPr>
          </a:p>
          <a:p>
            <a:pPr marL="342900" indent="-342900" eaLnBrk="1" hangingPunct="1">
              <a:spcBef>
                <a:spcPct val="0"/>
              </a:spcBef>
              <a:defRPr/>
            </a:pPr>
            <a:endParaRPr lang="en-US" altLang="zh-CN" sz="2400" dirty="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  <a:defRPr/>
            </a:pPr>
            <a:endParaRPr lang="en-US" altLang="zh-CN" sz="2400" dirty="0">
              <a:latin typeface="Times New Roman" panose="02020603050405020304" pitchFamily="18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E7DBEC45-F882-C501-6FAA-FF33A672E031}"/>
              </a:ext>
            </a:extLst>
          </p:cNvPr>
          <p:cNvSpPr txBox="1"/>
          <p:nvPr/>
        </p:nvSpPr>
        <p:spPr>
          <a:xfrm>
            <a:off x="119336" y="1488114"/>
            <a:ext cx="11665296" cy="5016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60000" lvl="0" indent="-457200" algn="just" eaLnBrk="1" hangingPunct="1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[31].EL ASRI Z, 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Sigaud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O, THOME N. Physics‑Informed Model and Hybrid Planning for Efficient Dyna‑Style Reinforcement Learning[C]// Proceedings of the 1st Reinforcement Learning Conference (RL Conference 2024). 2024: 693‑713.</a:t>
            </a:r>
          </a:p>
          <a:p>
            <a:pPr marL="360000" lvl="0" indent="-457200" algn="just" eaLnBrk="1" hangingPunct="1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[32].Fung HL, 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Darvariu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V‑A, 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Hailes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S, et al. Trust‑based Consensus in Multi‑Agent Reinforcement Learning Systems[C]// Proceedings of the 1st Reinforcement Learning Conference (RL Conference 2024). 2024: 714‑732.</a:t>
            </a:r>
          </a:p>
          <a:p>
            <a:pPr marL="360000" lvl="0" indent="-457200" algn="just" eaLnBrk="1" hangingPunct="1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[33].Luo Y, Sun F, Ji T, et al. Bidirectional‑Reachable Hierarchical Reinforcement Learning with Mutually Responsive Policies[C]// Proceedings of the 1st Reinforcement Learning Conference (RL Conference 2024). 2024: 733‑762.</a:t>
            </a:r>
          </a:p>
          <a:p>
            <a:pPr marL="360000" lvl="0" indent="-457200" algn="just" eaLnBrk="1" hangingPunct="1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[34].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Lambrechts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G, 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Bolland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A, Ernst D. Informed POMDP: Leveraging Additional Information in Model‑Based RL[C]// Proceedings of the 1st Reinforcement Learning Conference (RL Conference 2024). 2024: 763‑784.</a:t>
            </a:r>
          </a:p>
          <a:p>
            <a:pPr marL="360000" lvl="0" indent="-457200" algn="just" eaLnBrk="1" hangingPunct="1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[35].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Lobel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S, Parr R. An Optimal Tightness Bound for the Simulation Lemma[C]// Proceedings of the 1st Reinforcement Learning Conference (RL Conference 2024). 2024: 785‑797.</a:t>
            </a:r>
          </a:p>
          <a:p>
            <a:pPr marL="360000" lvl="0" indent="-457200" algn="just" eaLnBrk="1" hangingPunct="1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[36].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Aghajohari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M, 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Cooijmans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T, Duque JA, et al. Best Response Shaping[C]// Proceedings of the 1st Reinforcement Learning Conference (RL Conference 2024). 2024: 798‑818.</a:t>
            </a:r>
          </a:p>
          <a:p>
            <a:pPr marL="360000" lvl="0" indent="-457200" algn="just" eaLnBrk="1" hangingPunct="1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[37].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Drappo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G, 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Metelli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AM, 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Restelli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M. A Provably Efficient Option‑Based Algorithm for both High‑Level and Low‑Level Learning[C]// Proceedings of the 1st Reinforcement Learning Conference (RL Conference 2024). 2024: 819‑839.</a:t>
            </a:r>
          </a:p>
          <a:p>
            <a:pPr marL="360000" lvl="0" indent="-457200" algn="just" eaLnBrk="1" hangingPunct="1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[38].Javed K, 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Sharifnassab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A, Sutton RS. </a:t>
            </a:r>
            <a:r>
              <a:rPr kumimoji="0" lang="en-US" altLang="zh-CN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SwiftTD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: A Fast and Robust Algorithm for Temporal Difference Learning[C]// Proceedings of the 1st Reinforcement Learning Conference (RL Conference 2024). 2024: 840‑863.</a:t>
            </a:r>
          </a:p>
          <a:p>
            <a:pPr marL="360000" lvl="0" indent="-457200" algn="just" eaLnBrk="1" hangingPunct="1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[39].Jordan SM, Neumann S, Kostas JE, et al. The Cliff of Overcommitment with Policy Gradient Step Sizes[C]// Proceedings of the 1st Reinforcement Learning Conference (RL Conference 2024). 2024: 864‑883.</a:t>
            </a:r>
          </a:p>
          <a:p>
            <a:pPr marL="360000" lvl="0" indent="-457200" algn="just" eaLnBrk="1" hangingPunct="1"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[40].Levine A, Stone P, Zhang A. Multistep Inverse Is Not All You Need[C]// Proceedings of the 1st Reinforcement Learning Conference (RL Conference 2024). 2024: 884‑925.</a:t>
            </a:r>
          </a:p>
        </p:txBody>
      </p:sp>
      <p:sp>
        <p:nvSpPr>
          <p:cNvPr id="2" name="页脚占位符 1">
            <a:extLst>
              <a:ext uri="{FF2B5EF4-FFF2-40B4-BE49-F238E27FC236}">
                <a16:creationId xmlns:a16="http://schemas.microsoft.com/office/drawing/2014/main" id="{556BD460-2CDC-DDB8-FD64-FE3C2F91203B}"/>
              </a:ext>
            </a:extLst>
          </p:cNvPr>
          <p:cNvSpPr txBox="1">
            <a:spLocks/>
          </p:cNvSpPr>
          <p:nvPr/>
        </p:nvSpPr>
        <p:spPr bwMode="auto">
          <a:xfrm>
            <a:off x="5055607" y="6525344"/>
            <a:ext cx="2336537" cy="3326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zh-CN"/>
            </a:defPPr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buFont typeface="Arial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宋体" panose="02010600030101010101" pitchFamily="2" charset="-122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9pPr>
          </a:lstStyle>
          <a:p>
            <a:pPr>
              <a:defRPr/>
            </a:pPr>
            <a:r>
              <a:rPr lang="en-US" altLang="zh-CN" dirty="0"/>
              <a:t>5 / 125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5502112"/>
      </p:ext>
    </p:extLst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CCB718-57D2-E386-9589-99473E2ACF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28F8DA8F-7649-B778-3859-B47C88DE3DEB}"/>
              </a:ext>
            </a:extLst>
          </p:cNvPr>
          <p:cNvSpPr/>
          <p:nvPr/>
        </p:nvSpPr>
        <p:spPr bwMode="auto">
          <a:xfrm>
            <a:off x="0" y="5517232"/>
            <a:ext cx="12192000" cy="1340768"/>
          </a:xfrm>
          <a:prstGeom prst="rect">
            <a:avLst/>
          </a:prstGeom>
          <a:solidFill>
            <a:schemeClr val="bg1">
              <a:alpha val="71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rtlCol="0" anchor="t" anchorCtr="0" compatLnSpc="1"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3316" name="文本框 1">
            <a:extLst>
              <a:ext uri="{FF2B5EF4-FFF2-40B4-BE49-F238E27FC236}">
                <a16:creationId xmlns:a16="http://schemas.microsoft.com/office/drawing/2014/main" id="{7A1D2731-E83B-ED3E-D64B-17EFCD2C78D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5587451"/>
            <a:ext cx="12108285" cy="646331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just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Reference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：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360000" indent="-457200" algn="just" eaLnBrk="1" hangingPunct="1">
              <a:spcBef>
                <a:spcPct val="0"/>
              </a:spcBef>
              <a:buNone/>
              <a:defRPr/>
            </a:pPr>
            <a:r>
              <a:rPr lang="en-US" altLang="zh-CN" sz="18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[{{No.}}]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. {{reference}}</a:t>
            </a:r>
          </a:p>
        </p:txBody>
      </p:sp>
      <p:sp>
        <p:nvSpPr>
          <p:cNvPr id="6" name="Text Box 3">
            <a:extLst>
              <a:ext uri="{FF2B5EF4-FFF2-40B4-BE49-F238E27FC236}">
                <a16:creationId xmlns:a16="http://schemas.microsoft.com/office/drawing/2014/main" id="{B1372767-07D3-84B9-36E6-EC20CCDBB15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6096" y="2938445"/>
            <a:ext cx="11479807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lvl="0" algn="ctr">
              <a:buNone/>
              <a:defRPr/>
            </a:pPr>
            <a:r>
              <a:rPr kumimoji="0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+mn-cs"/>
              </a:rPr>
              <a:t>{{title}}</a:t>
            </a:r>
          </a:p>
        </p:txBody>
      </p:sp>
      <p:sp>
        <p:nvSpPr>
          <p:cNvPr id="4" name="页脚占位符 1">
            <a:extLst>
              <a:ext uri="{FF2B5EF4-FFF2-40B4-BE49-F238E27FC236}">
                <a16:creationId xmlns:a16="http://schemas.microsoft.com/office/drawing/2014/main" id="{F6A5E8F7-1D10-F617-B451-AF3088533236}"/>
              </a:ext>
            </a:extLst>
          </p:cNvPr>
          <p:cNvSpPr txBox="1">
            <a:spLocks/>
          </p:cNvSpPr>
          <p:nvPr/>
        </p:nvSpPr>
        <p:spPr bwMode="auto">
          <a:xfrm>
            <a:off x="5055607" y="6525344"/>
            <a:ext cx="2336537" cy="3326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zh-CN"/>
            </a:defPPr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buFont typeface="Arial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宋体" panose="02010600030101010101" pitchFamily="2" charset="-122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9pPr>
          </a:lstStyle>
          <a:p>
            <a:pPr>
              <a:defRPr/>
            </a:pPr>
            <a:r>
              <a:rPr lang="en-US" altLang="zh-CN" dirty="0"/>
              <a:t>{{Pages}}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1558821"/>
      </p:ext>
    </p:extLst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>
            <a:extLst>
              <a:ext uri="{FF2B5EF4-FFF2-40B4-BE49-F238E27FC236}">
                <a16:creationId xmlns:a16="http://schemas.microsoft.com/office/drawing/2014/main" id="{BEDE234A-12AF-DCE1-E0FB-0213F2907114}"/>
              </a:ext>
            </a:extLst>
          </p:cNvPr>
          <p:cNvSpPr txBox="1"/>
          <p:nvPr/>
        </p:nvSpPr>
        <p:spPr>
          <a:xfrm>
            <a:off x="241796" y="1420964"/>
            <a:ext cx="609499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marR="0" lvl="0" indent="-457200" algn="just" defTabSz="914400" rtl="0" eaLnBrk="0" fontAlgn="base" latinLnBrk="0" hangingPunct="0">
              <a:lnSpc>
                <a:spcPct val="100000"/>
              </a:lnSpc>
              <a:spcBef>
                <a:spcPct val="10000"/>
              </a:spcBef>
              <a:spcAft>
                <a:spcPct val="10000"/>
              </a:spcAft>
              <a:buClrTx/>
              <a:buSzPct val="110000"/>
              <a:buFont typeface="Wingdings" panose="05000000000000000000" pitchFamily="2" charset="2"/>
              <a:buChar char="n"/>
              <a:tabLst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问题：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2C5B0D81-9F61-EC0C-CE3A-49C6D3334AA1}"/>
              </a:ext>
            </a:extLst>
          </p:cNvPr>
          <p:cNvSpPr txBox="1"/>
          <p:nvPr/>
        </p:nvSpPr>
        <p:spPr>
          <a:xfrm>
            <a:off x="241796" y="3432833"/>
            <a:ext cx="463006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marR="0" lvl="0" indent="-457200" algn="just" defTabSz="914400" rtl="0" eaLnBrk="0" fontAlgn="base" latinLnBrk="0" hangingPunct="0">
              <a:lnSpc>
                <a:spcPct val="100000"/>
              </a:lnSpc>
              <a:spcBef>
                <a:spcPct val="10000"/>
              </a:spcBef>
              <a:spcAft>
                <a:spcPct val="10000"/>
              </a:spcAft>
              <a:buClrTx/>
              <a:buSzPct val="110000"/>
              <a:buFont typeface="Wingdings" panose="05000000000000000000" pitchFamily="2" charset="2"/>
              <a:buChar char="n"/>
              <a:tabLst/>
              <a:defRPr/>
            </a:pPr>
            <a:r>
              <a:rPr lang="zh-CN" altLang="en-US" b="1" dirty="0">
                <a:solidFill>
                  <a:srgbClr val="7030A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黑体" panose="02010609060101010101" pitchFamily="49" charset="-122"/>
                <a:cs typeface="Times New Roman" panose="02020603050405020304" pitchFamily="18" charset="0"/>
              </a:rPr>
              <a:t>方法</a:t>
            </a: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uLnTx/>
                <a:uFillTx/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：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5EFB766-E1C8-847F-FD5B-56D03E51D7EF}"/>
              </a:ext>
            </a:extLst>
          </p:cNvPr>
          <p:cNvSpPr txBox="1"/>
          <p:nvPr/>
        </p:nvSpPr>
        <p:spPr>
          <a:xfrm>
            <a:off x="241796" y="1781367"/>
            <a:ext cx="590564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altLang="zh-CN" sz="1600" dirty="0">
                <a:ea typeface="黑体" panose="02010609060101010101" pitchFamily="49" charset="-122"/>
                <a:cs typeface="Times New Roman" panose="02020603050405020304" pitchFamily="18" charset="0"/>
              </a:rPr>
              <a:t>{{problems}}</a:t>
            </a:r>
            <a:endParaRPr lang="zh-CN" altLang="en-US" sz="1600" dirty="0">
              <a:ea typeface="黑体" panose="02010609060101010101" pitchFamily="49" charset="-122"/>
              <a:cs typeface="Times New Roman" panose="02020603050405020304" pitchFamily="18" charset="0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BB1E47F3-922A-8239-A9B5-C9F7C765C6B4}"/>
              </a:ext>
            </a:extLst>
          </p:cNvPr>
          <p:cNvSpPr txBox="1"/>
          <p:nvPr/>
        </p:nvSpPr>
        <p:spPr>
          <a:xfrm>
            <a:off x="241796" y="3831345"/>
            <a:ext cx="59975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zh-CN"/>
            </a:defPPr>
            <a:lvl1pPr>
              <a:defRPr sz="1800">
                <a:ea typeface="黑体" panose="02010609060101010101" pitchFamily="49" charset="-122"/>
                <a:cs typeface="Times New Roman" panose="02020603050405020304" pitchFamily="18" charset="0"/>
              </a:defRPr>
            </a:lvl1pPr>
          </a:lstStyle>
          <a:p>
            <a:pPr algn="just"/>
            <a:r>
              <a:rPr lang="en-US" altLang="zh-CN" sz="1600" dirty="0"/>
              <a:t>{{methods}}</a:t>
            </a:r>
            <a:endParaRPr lang="zh-CN" altLang="en-US" sz="1600" dirty="0"/>
          </a:p>
        </p:txBody>
      </p:sp>
      <p:sp>
        <p:nvSpPr>
          <p:cNvPr id="13" name="Text Box 2">
            <a:extLst>
              <a:ext uri="{FF2B5EF4-FFF2-40B4-BE49-F238E27FC236}">
                <a16:creationId xmlns:a16="http://schemas.microsoft.com/office/drawing/2014/main" id="{2E561720-7DA6-AF9D-AF42-273479AD65F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71864" y="30702"/>
            <a:ext cx="7488336" cy="76944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10000"/>
              </a:spcBef>
              <a:spcAft>
                <a:spcPct val="10000"/>
              </a:spcAft>
              <a:buClr>
                <a:srgbClr val="FF0000"/>
              </a:buClr>
              <a:buSzPct val="110000"/>
              <a:buFontTx/>
              <a:buNone/>
              <a:tabLst/>
              <a:defRPr/>
            </a:pPr>
            <a:r>
              <a:rPr kumimoji="0" lang="en-US" altLang="zh-CN" sz="4400" b="1" i="0" u="none" strike="noStrike" kern="1200" cap="none" spc="0" normalizeH="0" baseline="0" noProof="0" dirty="0">
                <a:ln>
                  <a:noFill/>
                </a:ln>
                <a:solidFill>
                  <a:srgbClr val="000099"/>
                </a:solidFill>
                <a:effectLst>
                  <a:outerShdw blurRad="38100" dist="38100" dir="2700000" algn="tl">
                    <a:srgbClr val="C0C0C0"/>
                  </a:outerShdw>
                </a:effectLst>
                <a:uLnTx/>
                <a:uFillTx/>
                <a:latin typeface="Times New Roman" panose="02020603050405020304" pitchFamily="18" charset="0"/>
                <a:ea typeface="黑体" pitchFamily="49" charset="-122"/>
                <a:cs typeface="Times New Roman" pitchFamily="18" charset="0"/>
              </a:rPr>
              <a:t>Introduction &amp; Framework</a:t>
            </a:r>
          </a:p>
        </p:txBody>
      </p:sp>
      <p:sp>
        <p:nvSpPr>
          <p:cNvPr id="2" name="页脚占位符 1">
            <a:extLst>
              <a:ext uri="{FF2B5EF4-FFF2-40B4-BE49-F238E27FC236}">
                <a16:creationId xmlns:a16="http://schemas.microsoft.com/office/drawing/2014/main" id="{517FB3B6-94D5-DE3D-0030-A10ACF95FDE2}"/>
              </a:ext>
            </a:extLst>
          </p:cNvPr>
          <p:cNvSpPr txBox="1">
            <a:spLocks/>
          </p:cNvSpPr>
          <p:nvPr/>
        </p:nvSpPr>
        <p:spPr bwMode="auto">
          <a:xfrm>
            <a:off x="5055607" y="6525344"/>
            <a:ext cx="2336537" cy="3326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zh-CN"/>
            </a:defPPr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buFont typeface="Arial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宋体" panose="02010600030101010101" pitchFamily="2" charset="-122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9pPr>
          </a:lstStyle>
          <a:p>
            <a:pPr>
              <a:defRPr/>
            </a:pPr>
            <a:r>
              <a:rPr lang="en-US" altLang="zh-CN" dirty="0"/>
              <a:t>{{Pages}} </a:t>
            </a:r>
            <a:endParaRPr lang="en-US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DFC75B7A-20A2-2DEC-2819-8BD1ED97379D}"/>
              </a:ext>
            </a:extLst>
          </p:cNvPr>
          <p:cNvSpPr txBox="1"/>
          <p:nvPr/>
        </p:nvSpPr>
        <p:spPr>
          <a:xfrm>
            <a:off x="241796" y="843930"/>
            <a:ext cx="1175885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altLang="zh-CN" sz="1600" dirty="0">
                <a:ea typeface="黑体" panose="02010609060101010101" pitchFamily="49" charset="-122"/>
                <a:cs typeface="Times New Roman" panose="02020603050405020304" pitchFamily="18" charset="0"/>
              </a:rPr>
              <a:t>{{phenomenon}}</a:t>
            </a:r>
          </a:p>
        </p:txBody>
      </p:sp>
    </p:spTree>
    <p:extLst>
      <p:ext uri="{BB962C8B-B14F-4D97-AF65-F5344CB8AC3E}">
        <p14:creationId xmlns:p14="http://schemas.microsoft.com/office/powerpoint/2010/main" val="2134140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 Box 2">
            <a:extLst>
              <a:ext uri="{FF2B5EF4-FFF2-40B4-BE49-F238E27FC236}">
                <a16:creationId xmlns:a16="http://schemas.microsoft.com/office/drawing/2014/main" id="{AC9A7E3E-59B0-E760-A1A5-BD560F864D7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32400" y="85725"/>
            <a:ext cx="6767513" cy="8302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ctr">
              <a:spcBef>
                <a:spcPct val="10000"/>
              </a:spcBef>
              <a:spcAft>
                <a:spcPct val="10000"/>
              </a:spcAft>
              <a:buClr>
                <a:srgbClr val="FF0000"/>
              </a:buClr>
              <a:buSzPct val="110000"/>
              <a:defRPr/>
            </a:pPr>
            <a:r>
              <a:rPr lang="en-US" altLang="zh-CN" sz="4800" b="1" dirty="0">
                <a:solidFill>
                  <a:srgbClr val="000099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黑体" pitchFamily="49" charset="-122"/>
                <a:cs typeface="Times New Roman" pitchFamily="18" charset="0"/>
              </a:rPr>
              <a:t>Conclusion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FE631A85-C91E-20AA-9B3E-82DCF1D46A2B}"/>
              </a:ext>
            </a:extLst>
          </p:cNvPr>
          <p:cNvSpPr txBox="1"/>
          <p:nvPr/>
        </p:nvSpPr>
        <p:spPr>
          <a:xfrm>
            <a:off x="335360" y="1063326"/>
            <a:ext cx="1152127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altLang="zh-CN" sz="1600" dirty="0">
                <a:ea typeface="黑体" panose="02010609060101010101" pitchFamily="49" charset="-122"/>
                <a:cs typeface="Times New Roman" panose="02020603050405020304" pitchFamily="18" charset="0"/>
              </a:rPr>
              <a:t>{{results}}</a:t>
            </a:r>
            <a:endParaRPr lang="zh-CN" altLang="en-US" sz="1600" dirty="0">
              <a:ea typeface="黑体" panose="02010609060101010101" pitchFamily="49" charset="-122"/>
              <a:cs typeface="Times New Roman" panose="02020603050405020304" pitchFamily="18" charset="0"/>
            </a:endParaRPr>
          </a:p>
        </p:txBody>
      </p:sp>
      <p:sp>
        <p:nvSpPr>
          <p:cNvPr id="2" name="页脚占位符 1">
            <a:extLst>
              <a:ext uri="{FF2B5EF4-FFF2-40B4-BE49-F238E27FC236}">
                <a16:creationId xmlns:a16="http://schemas.microsoft.com/office/drawing/2014/main" id="{A04A0C59-F0B1-2B7E-BC2D-ED71991F5271}"/>
              </a:ext>
            </a:extLst>
          </p:cNvPr>
          <p:cNvSpPr txBox="1">
            <a:spLocks/>
          </p:cNvSpPr>
          <p:nvPr/>
        </p:nvSpPr>
        <p:spPr bwMode="auto">
          <a:xfrm>
            <a:off x="5055607" y="6525344"/>
            <a:ext cx="2336537" cy="3326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zh-CN"/>
            </a:defPPr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buFont typeface="Arial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宋体" panose="02010600030101010101" pitchFamily="2" charset="-122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9pPr>
          </a:lstStyle>
          <a:p>
            <a:pPr>
              <a:defRPr/>
            </a:pPr>
            <a:r>
              <a:rPr lang="en-US" altLang="zh-CN" dirty="0"/>
              <a:t>{{Pages}}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9973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86" name="Rectangle 2">
            <a:extLst>
              <a:ext uri="{FF2B5EF4-FFF2-40B4-BE49-F238E27FC236}">
                <a16:creationId xmlns:a16="http://schemas.microsoft.com/office/drawing/2014/main" id="{0BDD4769-AC51-4B26-9E44-C6EEAB4A9160}"/>
              </a:ext>
            </a:extLst>
          </p:cNvPr>
          <p:cNvSpPr>
            <a:spLocks noRot="1" noChangeArrowheads="1"/>
          </p:cNvSpPr>
          <p:nvPr/>
        </p:nvSpPr>
        <p:spPr bwMode="auto">
          <a:xfrm>
            <a:off x="2855913" y="2587625"/>
            <a:ext cx="6192837" cy="1871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marL="342900" indent="-342900" algn="ctr">
              <a:spcBef>
                <a:spcPct val="20000"/>
              </a:spcBef>
              <a:buClr>
                <a:schemeClr val="hlink"/>
              </a:buClr>
              <a:buSzPct val="75000"/>
              <a:defRPr/>
            </a:pPr>
            <a:r>
              <a:rPr lang="en-US" altLang="zh-CN" sz="6600" b="1">
                <a:solidFill>
                  <a:srgbClr val="000099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黑体" pitchFamily="49" charset="-122"/>
                <a:cs typeface="Times New Roman" pitchFamily="18" charset="0"/>
              </a:rPr>
              <a:t>Thank you</a:t>
            </a:r>
            <a:endParaRPr lang="zh-CN" altLang="en-US" sz="6600" b="1" dirty="0">
              <a:solidFill>
                <a:srgbClr val="000099"/>
              </a:solidFill>
              <a:effectLst>
                <a:outerShdw blurRad="38100" dist="38100" dir="2700000" algn="tl">
                  <a:srgbClr val="C0C0C0"/>
                </a:outerShdw>
              </a:effectLst>
              <a:ea typeface="黑体" pitchFamily="49" charset="-122"/>
              <a:cs typeface="Times New Roman" pitchFamily="18" charset="0"/>
            </a:endParaRPr>
          </a:p>
        </p:txBody>
      </p:sp>
      <p:graphicFrame>
        <p:nvGraphicFramePr>
          <p:cNvPr id="95235" name="对象 4">
            <a:extLst>
              <a:ext uri="{FF2B5EF4-FFF2-40B4-BE49-F238E27FC236}">
                <a16:creationId xmlns:a16="http://schemas.microsoft.com/office/drawing/2014/main" id="{CB2A0F5A-EC79-4F25-BAF4-8D2BD4E19A81}"/>
              </a:ext>
            </a:extLst>
          </p:cNvPr>
          <p:cNvGraphicFramePr>
            <a:graphicFrameLocks noChangeAspect="1"/>
          </p:cNvGraphicFramePr>
          <p:nvPr/>
        </p:nvGraphicFramePr>
        <p:xfrm>
          <a:off x="7042150" y="2409825"/>
          <a:ext cx="114300" cy="177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14102" imgH="177492" progId="Equation.DSMT4">
                  <p:embed/>
                </p:oleObj>
              </mc:Choice>
              <mc:Fallback>
                <p:oleObj name="Equation" r:id="rId3" imgW="114102" imgH="177492" progId="Equation.DSMT4">
                  <p:embed/>
                  <p:pic>
                    <p:nvPicPr>
                      <p:cNvPr id="95235" name="对象 4">
                        <a:extLst>
                          <a:ext uri="{FF2B5EF4-FFF2-40B4-BE49-F238E27FC236}">
                            <a16:creationId xmlns:a16="http://schemas.microsoft.com/office/drawing/2014/main" id="{CB2A0F5A-EC79-4F25-BAF4-8D2BD4E19A81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042150" y="2409825"/>
                        <a:ext cx="114300" cy="1778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页脚占位符 1">
            <a:extLst>
              <a:ext uri="{FF2B5EF4-FFF2-40B4-BE49-F238E27FC236}">
                <a16:creationId xmlns:a16="http://schemas.microsoft.com/office/drawing/2014/main" id="{E75E3543-2AD5-5971-EE2F-59C686F5D2D1}"/>
              </a:ext>
            </a:extLst>
          </p:cNvPr>
          <p:cNvSpPr txBox="1">
            <a:spLocks/>
          </p:cNvSpPr>
          <p:nvPr/>
        </p:nvSpPr>
        <p:spPr bwMode="auto">
          <a:xfrm>
            <a:off x="5055607" y="6525344"/>
            <a:ext cx="2080781" cy="3326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zh-CN"/>
            </a:defPPr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buFont typeface="Arial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宋体" panose="02010600030101010101" pitchFamily="2" charset="-122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+mn-cs"/>
              </a:defRPr>
            </a:lvl9pPr>
          </a:lstStyle>
          <a:p>
            <a:pPr>
              <a:defRPr/>
            </a:pPr>
            <a:r>
              <a:rPr lang="en-US" altLang="zh-CN" dirty="0"/>
              <a:t>125 / 125</a:t>
            </a:r>
            <a:endParaRPr lang="en-US" dirty="0"/>
          </a:p>
        </p:txBody>
      </p:sp>
    </p:spTree>
  </p:cSld>
  <p:clrMapOvr>
    <a:masterClrMapping/>
  </p:clrMapOvr>
  <p:transition/>
</p:sld>
</file>

<file path=ppt/theme/theme1.xml><?xml version="1.0" encoding="utf-8"?>
<a:theme xmlns:a="http://schemas.openxmlformats.org/drawingml/2006/main" name="1_默认设计模板">
  <a:themeElements>
    <a:clrScheme name="1_默认设计模板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1_默认设计模板">
      <a:majorFont>
        <a:latin typeface="Arial"/>
        <a:ea typeface="华文中宋"/>
        <a:cs typeface=""/>
      </a:majorFont>
      <a:minorFont>
        <a:latin typeface="Arial"/>
        <a:ea typeface="宋体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2"/>
        </a:solidFill>
        <a:ln w="9525" cap="flat" cmpd="sng" algn="ctr">
          <a:solidFill>
            <a:schemeClr val="accent2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itchFamily="34" charset="0"/>
          <a:buNone/>
          <a:tabLst/>
          <a:defRPr kumimoji="0" lang="zh-CN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itchFamily="18" charset="0"/>
            <a:ea typeface="宋体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2"/>
        </a:solidFill>
        <a:ln w="9525" cap="flat" cmpd="sng" algn="ctr">
          <a:solidFill>
            <a:schemeClr val="accent2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itchFamily="34" charset="0"/>
          <a:buNone/>
          <a:tabLst/>
          <a:defRPr kumimoji="0" lang="zh-CN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itchFamily="18" charset="0"/>
            <a:ea typeface="宋体" pitchFamily="2" charset="-122"/>
          </a:defRPr>
        </a:defPPr>
      </a:lstStyle>
    </a:lnDef>
  </a:objectDefaults>
  <a:extraClrSchemeLst>
    <a:extraClrScheme>
      <a:clrScheme name="1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默认设计模板_2">
  <a:themeElements>
    <a:clrScheme name="默认设计模板_2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默认设计模板_2">
      <a:majorFont>
        <a:latin typeface="Arial"/>
        <a:ea typeface="宋体"/>
        <a:cs typeface=""/>
      </a:majorFont>
      <a:minorFont>
        <a:latin typeface="Arial"/>
        <a:ea typeface="宋体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2"/>
        </a:solidFill>
        <a:ln w="9525" cap="flat" cmpd="sng" algn="ctr">
          <a:solidFill>
            <a:schemeClr val="accent2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itchFamily="34" charset="0"/>
          <a:buNone/>
          <a:tabLst/>
          <a:defRPr kumimoji="0" lang="zh-CN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itchFamily="18" charset="0"/>
            <a:ea typeface="宋体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2"/>
        </a:solidFill>
        <a:ln w="9525" cap="flat" cmpd="sng" algn="ctr">
          <a:solidFill>
            <a:schemeClr val="accent2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itchFamily="34" charset="0"/>
          <a:buNone/>
          <a:tabLst/>
          <a:defRPr kumimoji="0" lang="zh-CN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itchFamily="18" charset="0"/>
            <a:ea typeface="宋体" pitchFamily="2" charset="-122"/>
          </a:defRPr>
        </a:defPPr>
      </a:lstStyle>
    </a:lnDef>
  </a:objectDefaults>
  <a:extraClrSchemeLst>
    <a:extraClrScheme>
      <a:clrScheme name="默认设计模板_2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_2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_2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_2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_2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_2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_2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_2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_2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_2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_2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_2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104652</TotalTime>
  <Words>1782</Words>
  <Application>Microsoft Office PowerPoint</Application>
  <PresentationFormat>宽屏</PresentationFormat>
  <Paragraphs>93</Paragraphs>
  <Slides>9</Slides>
  <Notes>9</Notes>
  <HiddenSlides>0</HiddenSlides>
  <MMClips>0</MMClips>
  <ScaleCrop>false</ScaleCrop>
  <HeadingPairs>
    <vt:vector size="8" baseType="variant">
      <vt:variant>
        <vt:lpstr>已用的字体</vt:lpstr>
      </vt:variant>
      <vt:variant>
        <vt:i4>4</vt:i4>
      </vt:variant>
      <vt:variant>
        <vt:lpstr>主题</vt:lpstr>
      </vt:variant>
      <vt:variant>
        <vt:i4>2</vt:i4>
      </vt:variant>
      <vt:variant>
        <vt:lpstr>嵌入 OLE 服务器</vt:lpstr>
      </vt:variant>
      <vt:variant>
        <vt:i4>1</vt:i4>
      </vt:variant>
      <vt:variant>
        <vt:lpstr>幻灯片标题</vt:lpstr>
      </vt:variant>
      <vt:variant>
        <vt:i4>9</vt:i4>
      </vt:variant>
    </vt:vector>
  </HeadingPairs>
  <TitlesOfParts>
    <vt:vector size="16" baseType="lpstr">
      <vt:lpstr>Arial</vt:lpstr>
      <vt:lpstr>Times New Roman</vt:lpstr>
      <vt:lpstr>Wingdings</vt:lpstr>
      <vt:lpstr>黑体</vt:lpstr>
      <vt:lpstr>1_默认设计模板</vt:lpstr>
      <vt:lpstr>默认设计模板_2</vt:lpstr>
      <vt:lpstr>Equation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幻灯片 1</dc:title>
  <dc:creator>Administrator</dc:creator>
  <cp:lastModifiedBy>佳林 马</cp:lastModifiedBy>
  <cp:revision>2092</cp:revision>
  <dcterms:modified xsi:type="dcterms:W3CDTF">2025-11-14T07:59:03Z</dcterms:modified>
</cp:coreProperties>
</file>